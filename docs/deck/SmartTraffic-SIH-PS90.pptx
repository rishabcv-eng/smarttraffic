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50e6223-e32e-c0fd-3cfc-a6af7aeca0cd}">
          <p14:sldIdLst>
            <p14:sldId id="256"/>
          </p14:sldIdLst>
        </p14:section>
        <p14:section name="Problem" id="{93871322-ec25-97de-aaf0-29d3e462f8d8}">
          <p14:sldIdLst>
            <p14:sldId id="257"/>
            <p14:sldId id="258"/>
          </p14:sldIdLst>
        </p14:section>
        <p14:section name="The novelty" id="{2e21a506-4f69-7b2a-e1b9-375eb99d400e}">
          <p14:sldIdLst>
            <p14:sldId id="259"/>
            <p14:sldId id="260"/>
            <p14:sldId id="261"/>
          </p14:sldIdLst>
        </p14:section>
        <p14:section name="Method" id="{59155ddf-f34f-ac97-f0ca-e5bf95cff53f}">
          <p14:sldIdLst>
            <p14:sldId id="262"/>
          </p14:sldIdLst>
        </p14:section>
        <p14:section name="Results" id="{26457fc1-9b3f-8038-624f-eea5f5d0f731}">
          <p14:sldIdLst>
            <p14:sldId id="263"/>
            <p14:sldId id="264"/>
            <p14:sldId id="265"/>
          </p14:sldIdLst>
        </p14:section>
        <p14:section name="Deployability" id="{3baa5d67-4754-dab3-cf37-d8d32a3722d4}">
          <p14:sldIdLst>
            <p14:sldId id="266"/>
            <p14:sldId id="267"/>
            <p14:sldId id="268"/>
          </p14:sldIdLst>
        </p14:section>
        <p14:section name="Close" id="{88714a02-13c3-5c03-70f7-d96e1c566c7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2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4525F"/>
                </a:solidFill>
                <a:latin typeface="+mn-lt"/>
              </a:rPr>
              <a:t>Car-equivalents per vehicle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 PCU (used today)</c:v>
                </c:pt>
              </c:strCache>
            </c:strRef>
          </c:tx>
          <c:spPr>
            <a:solidFill>
              <a:srgbClr val="94A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452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Two-wheeler</c:v>
                  </c:pt>
                  <c:pt idx="1">
                    <c:v>Auto</c:v>
                  </c:pt>
                  <c:pt idx="2">
                    <c:v>Car</c:v>
                  </c:pt>
                  <c:pt idx="3">
                    <c:v>Bus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0.8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Implied by real discharge</c:v>
                </c:pt>
              </c:strCache>
            </c:strRef>
          </c:tx>
          <c:spPr>
            <a:solidFill>
              <a:srgbClr val="FFB3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452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Two-wheeler</c:v>
                  </c:pt>
                  <c:pt idx="1">
                    <c:v>Auto</c:v>
                  </c:pt>
                  <c:pt idx="2">
                    <c:v>Car</c:v>
                  </c:pt>
                  <c:pt idx="3">
                    <c:v>Bus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0.32</c:v>
                </c:pt>
                <c:pt idx="1">
                  <c:v>0.66</c:v>
                </c:pt>
                <c:pt idx="2">
                  <c:v>1</c:v>
                </c:pt>
                <c:pt idx="3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452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2"/>
        </c:scaling>
        <c:delete val="0"/>
        <c:axPos val="l"/>
        <c:majorGridlines>
          <c:spPr>
            <a:ln w="12700" cap="flat">
              <a:solidFill>
                <a:srgbClr val="DCE4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2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2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4525F"/>
                </a:solidFill>
                <a:latin typeface="+mn-lt"/>
              </a:rPr>
              <a:t>Two-wheeler share of the queue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 allocated beyond need</c:v>
                </c:pt>
              </c:strCache>
            </c:strRef>
          </c:tx>
          <c:spPr>
            <a:solidFill>
              <a:srgbClr val="FF5A5A"/>
            </a:solidFill>
            <a:ln w="50800" cap="flat">
              <a:solidFill>
                <a:srgbClr val="FF5A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4525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A5A"/>
              </a:solidFill>
              <a:ln w="9525" cap="flat">
                <a:solidFill>
                  <a:srgbClr val="FF5A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15%</c:v>
                  </c:pt>
                  <c:pt idx="2">
                    <c:v>30%</c:v>
                  </c:pt>
                  <c:pt idx="3">
                    <c:v>45%</c:v>
                  </c:pt>
                  <c:pt idx="4">
                    <c:v>60%</c:v>
                  </c:pt>
                  <c:pt idx="5">
                    <c:v>75%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9.3</c:v>
                </c:pt>
                <c:pt idx="2">
                  <c:v>14.5</c:v>
                </c:pt>
                <c:pt idx="3">
                  <c:v>21.5</c:v>
                </c:pt>
                <c:pt idx="4">
                  <c:v>29.1</c:v>
                </c:pt>
                <c:pt idx="5">
                  <c:v>39.5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4525F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4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2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4525F"/>
                </a:solidFill>
                <a:latin typeface="+mn-lt"/>
              </a:rPr>
              <a:t>People moved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moved</c:v>
                </c:pt>
              </c:strCache>
            </c:strRef>
          </c:tx>
          <c:spPr>
            <a:solidFill>
              <a:srgbClr val="94A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452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5A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CE87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Static PCU
(deployed today)</c:v>
                  </c:pt>
                  <c:pt idx="1">
                    <c:v>Efficiency only</c:v>
                  </c:pt>
                  <c:pt idx="2">
                    <c:v>People per second
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34772</c:v>
                </c:pt>
                <c:pt idx="1">
                  <c:v>41099</c:v>
                </c:pt>
                <c:pt idx="2">
                  <c:v>36683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452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000"/>
        </c:scaling>
        <c:delete val="0"/>
        <c:axPos val="l"/>
        <c:majorGridlines>
          <c:spPr>
            <a:ln w="12700" cap="flat">
              <a:solidFill>
                <a:srgbClr val="DCE4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452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4525F"/>
                </a:solidFill>
                <a:latin typeface="+mn-lt"/>
              </a:rPr>
              <a:t>Worst approach wait (ticks)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approach wait</c:v>
                </c:pt>
              </c:strCache>
            </c:strRef>
          </c:tx>
          <c:spPr>
            <a:solidFill>
              <a:srgbClr val="94A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452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5A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CE87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Static PCU
(deployed today)</c:v>
                  </c:pt>
                  <c:pt idx="1">
                    <c:v>Efficiency only</c:v>
                  </c:pt>
                  <c:pt idx="2">
                    <c:v>People per second
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31.5</c:v>
                </c:pt>
                <c:pt idx="1">
                  <c:v>184.5</c:v>
                </c:pt>
                <c:pt idx="2">
                  <c:v>37.1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452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5"/>
        </c:scaling>
        <c:delete val="0"/>
        <c:axPos val="l"/>
        <c:majorGridlines>
          <c:spPr>
            <a:ln w="12700" cap="flat">
              <a:solidFill>
                <a:srgbClr val="DCE4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7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built an adaptive traffic signal controller, and the part that is genuinely new is that it is designed for traffic without lane discipline. Everything I show you can be re-run from the repository with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why signals matter, and plant the assumption that the whole deck turns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early. Judges respect a team that knows which parts of its own project are textbook. It buys credibility for the part that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of the whole deck. Pause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 column being identical is the important detail. It shows we have not just invented numbers that suit us — where the old assumption holds, we agree with it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"how do you know your parameters are right" — point at the sweep. We do not need them to be exactly right for the conclusion to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deliberately about failure. The third attempt is the one to dwell on: we found our own fix had raised capacity so much that nothing was scarce. That diagnosis is the actual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red bar on the right. That is our own first attempt, and it is unusable: it leaves one road red for minutes. Showing it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one slide, remember this one. A team that finds the equity problem in its own result, and says so before being asked, is a team worth trusting.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findings about how the field evaluates itself, not just about our code. Both were caught by our own benchmark, which is the argument for building one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brisk — 30 seconds. It is table stakes, not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us from a demo. Offer to run it live if they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limitations before being asked changes how the rest of the deck is heard. It is also the honest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version. Then offer the live demo: the Mixed fleet tab runs the whole study in front of them, and the control condition is a checkbox.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94A7B8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DIVIDER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rgbClr val="FFB347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7B8"/>
                </a:solidFill>
              </a:rPr>
              <a:t>SmartTraffic · SIH PS90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7B8"/>
                </a:solidFill>
              </a:rPr>
              <a:t>SmartTraffic · SIH PS90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SmartTraffic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rgbClr val="94A7B8"/>
                </a:solidFill>
              </a:rPr>
              <a:t>Adaptive signal control built for lane-less Indian traffic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</a:rPr>
              <a:t>SIH PS90   ·   15 controllers   ·   119 tests   ·   every claim reproducible</a:t>
            </a:r>
            <a:endParaRPr lang="en-US" sz="1700" dirty="0"/>
          </a:p>
        </p:txBody>
      </p:sp>
      <p:sp>
        <p:nvSpPr>
          <p:cNvPr id="4" name="signal housing"/>
          <p:cNvSpPr/>
          <p:nvPr/>
        </p:nvSpPr>
        <p:spPr>
          <a:xfrm>
            <a:off x="10149840" y="2103120"/>
            <a:ext cx="702259" cy="1682496"/>
          </a:xfrm>
          <a:prstGeom prst="roundRect">
            <a:avLst>
              <a:gd name="adj" fmla="val 7813"/>
            </a:avLst>
          </a:prstGeom>
          <a:solidFill>
            <a:srgbClr val="09111A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5" name="lamp 0"/>
          <p:cNvSpPr/>
          <p:nvPr/>
        </p:nvSpPr>
        <p:spPr>
          <a:xfrm>
            <a:off x="10310774" y="2220163"/>
            <a:ext cx="380390" cy="380390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6" name="lamp 1"/>
          <p:cNvSpPr/>
          <p:nvPr/>
        </p:nvSpPr>
        <p:spPr>
          <a:xfrm>
            <a:off x="10310774" y="2702966"/>
            <a:ext cx="380390" cy="380390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7" name="lamp 2"/>
          <p:cNvSpPr/>
          <p:nvPr/>
        </p:nvSpPr>
        <p:spPr>
          <a:xfrm>
            <a:off x="10310774" y="3185770"/>
            <a:ext cx="380390" cy="380390"/>
          </a:xfrm>
          <a:prstGeom prst="ellipse">
            <a:avLst/>
          </a:prstGeom>
          <a:solidFill>
            <a:srgbClr val="3CE87C"/>
          </a:solidFill>
          <a:ln w="12700">
            <a:solidFill>
              <a:srgbClr val="3CE87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Chennai loses 132 hours per commuter, per year</a:t>
            </a:r>
            <a:endParaRPr lang="en-US" sz="3600" dirty="0"/>
          </a:p>
        </p:txBody>
      </p:sp>
      <p:sp>
        <p:nvSpPr>
          <p:cNvPr id="3" name="stat to travel 10 km"/>
          <p:cNvSpPr txBox="1"/>
          <p:nvPr/>
        </p:nvSpPr>
        <p:spPr>
          <a:xfrm>
            <a:off x="64008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5A5A"/>
                </a:solidFill>
              </a:rPr>
              <a:t>31:15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 travel 10 km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7B8"/>
                </a:solidFill>
              </a:rPr>
              <a:t>TomTom Traffic Index 2025</a:t>
            </a:r>
            <a:endParaRPr lang="en-US" sz="1000" dirty="0"/>
          </a:p>
        </p:txBody>
      </p:sp>
      <p:sp>
        <p:nvSpPr>
          <p:cNvPr id="6" name="stat evening congestion"/>
          <p:cNvSpPr txBox="1"/>
          <p:nvPr/>
        </p:nvSpPr>
        <p:spPr>
          <a:xfrm>
            <a:off x="420624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5A5A"/>
                </a:solidFill>
              </a:rPr>
              <a:t>100.9%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evening congestion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7B8"/>
                </a:solidFill>
              </a:rPr>
              <a:t>a trip takes twice free-flow</a:t>
            </a:r>
            <a:endParaRPr lang="en-US" sz="1000" dirty="0"/>
          </a:p>
        </p:txBody>
      </p:sp>
      <p:sp>
        <p:nvSpPr>
          <p:cNvPr id="9" name="stat peak speed"/>
          <p:cNvSpPr txBox="1"/>
          <p:nvPr/>
        </p:nvSpPr>
        <p:spPr>
          <a:xfrm>
            <a:off x="777240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5A5A"/>
                </a:solidFill>
              </a:rPr>
              <a:t>16 km/h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peak speed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7B8"/>
                </a:solidFill>
              </a:rPr>
              <a:t>slower than a bicycle downhill</a:t>
            </a:r>
            <a:endParaRPr lang="en-US" sz="1000" dirty="0"/>
          </a:p>
        </p:txBody>
      </p:sp>
      <p:sp>
        <p:nvSpPr>
          <p:cNvPr id="12" name="problem card"/>
          <p:cNvSpPr/>
          <p:nvPr/>
        </p:nvSpPr>
        <p:spPr>
          <a:xfrm>
            <a:off x="640080" y="356616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749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Signals are the cheapest lever a city has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2062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New roads take years and land nobody has. Retiming the signals on a corridor is software. The catch is that the control theory every adaptive system is built on was written for traffic that queues in lanes — and Indian traffic does not.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is standard, and what is ours</a:t>
            </a:r>
            <a:endParaRPr lang="en-US" sz="3600" dirty="0"/>
          </a:p>
        </p:txBody>
      </p:sp>
      <p:sp>
        <p:nvSpPr>
          <p:cNvPr id="3" name="standard card"/>
          <p:cNvSpPr/>
          <p:nvPr/>
        </p:nvSpPr>
        <p:spPr>
          <a:xfrm>
            <a:off x="640080" y="14173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7B8"/>
                </a:solidFill>
              </a:rPr>
              <a:t>Established work — implemented, not claimed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Max-pressure control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Green-wave coordination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Emergency vehicle preemption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Transit signal priority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Reinforcement learning for signals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YOLO vehicle counting</a:t>
            </a:r>
            <a:endParaRPr lang="en-US" sz="1500" dirty="0"/>
          </a:p>
        </p:txBody>
      </p:sp>
      <p:sp>
        <p:nvSpPr>
          <p:cNvPr id="6" name="ours card"/>
          <p:cNvSpPr/>
          <p:nvPr/>
        </p:nvSpPr>
        <p:spPr>
          <a:xfrm>
            <a:off x="6217920" y="14173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2A2015"/>
          </a:solidFill>
          <a:ln w="12700">
            <a:solidFill>
              <a:srgbClr val="2A201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</a:rPr>
              <a:t>Ours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488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discharge model for lane-less mixed traffic, built from physical width and headway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Signal pressure measured in people per second of green, not vehicles or PCU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Two widely used evaluation metrics shown to be gameable — with the demonstration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800" b="1" dirty="0">
                <a:solidFill>
                  <a:srgbClr val="FFB347"/>
                </a:solidFill>
              </a:rPr>
              <a:t>Signal theory assumes lane discipline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Two-wheelers filter into lateral gaps and cross two or three abreast where one car fits. What limits the stop line is lateral space — not a factor calibrated for moving traffic.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conventional factor is 56% too high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nding card"/>
          <p:cNvSpPr/>
          <p:nvPr/>
        </p:nvSpPr>
        <p:spPr>
          <a:xfrm>
            <a:off x="7589520" y="146304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5A5A"/>
                </a:solidFill>
              </a:rPr>
              <a:t>56%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too high for a two-wheeler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0632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Static PCU measures space in moving traffic. A junction asks a different question: how long does this queue take to clear?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Our model reproduces the textbook figure for cars exactly — 1800 veh/h/lane — so it departs from convention only where lane discipline does.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That error becomes wasted green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Indian urban arterials run at about 45%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194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 that mix a conventional controller holds the approach green 21.5% longer than the traffic needs. Those seconds are taken from the cross street while the road it was given to stands empty.</a:t>
            </a:r>
            <a:endParaRPr lang="en-US" sz="1400" dirty="0"/>
          </a:p>
        </p:txBody>
      </p:sp>
      <p:sp>
        <p:nvSpPr>
          <p:cNvPr id="6" name="robustness card"/>
          <p:cNvSpPr/>
          <p:nvPr/>
        </p:nvSpPr>
        <p:spPr>
          <a:xfrm>
            <a:off x="7863840" y="374904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Robust to our own assumptions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42519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Swept across the full plausible range of widths and headways, the error stays between +4.6% and +34.7%. It survives us being wrong.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It did nothing. Three times.</a:t>
            </a:r>
            <a:endParaRPr lang="en-US" sz="3600" dirty="0"/>
          </a:p>
        </p:txBody>
      </p:sp>
      <p:sp>
        <p:nvSpPr>
          <p:cNvPr id="3" name="attempt 1"/>
          <p:cNvSpPr/>
          <p:nvPr/>
        </p:nvSpPr>
        <p:spPr>
          <a:xfrm>
            <a:off x="640080" y="1463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914400" y="1700784"/>
            <a:ext cx="475488" cy="475488"/>
          </a:xfrm>
          <a:prstGeom prst="ellipse">
            <a:avLst/>
          </a:prstGeom>
          <a:solidFill>
            <a:srgbClr val="FF5A5A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0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18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Corrected the measure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61848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No effect. The bias applied equally to both roads, so it cancelled.</a:t>
            </a:r>
            <a:endParaRPr lang="en-US" sz="1300" dirty="0"/>
          </a:p>
        </p:txBody>
      </p:sp>
      <p:sp>
        <p:nvSpPr>
          <p:cNvPr id="8" name="attempt 2"/>
          <p:cNvSpPr/>
          <p:nvPr/>
        </p:nvSpPr>
        <p:spPr>
          <a:xfrm>
            <a:off x="640080" y="257860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914400" y="2816352"/>
            <a:ext cx="475488" cy="475488"/>
          </a:xfrm>
          <a:prstGeom prst="ellipse">
            <a:avLst/>
          </a:prstGeom>
          <a:solidFill>
            <a:srgbClr val="FF5A5A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85292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0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7340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Made the two roads differ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734056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Still almost nothing. Only blocked arrivals moved, barely.</a:t>
            </a:r>
            <a:endParaRPr lang="en-US" sz="1300" dirty="0"/>
          </a:p>
        </p:txBody>
      </p:sp>
      <p:sp>
        <p:nvSpPr>
          <p:cNvPr id="13" name="attempt 3"/>
          <p:cNvSpPr/>
          <p:nvPr/>
        </p:nvSpPr>
        <p:spPr>
          <a:xfrm>
            <a:off x="640080" y="369417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914400" y="3931920"/>
            <a:ext cx="475488" cy="47548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96849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0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849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Diagnosed it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849624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Controllers agreed 85% of the time. Green was not scarce, so allocating it badly cost nothing.</a:t>
            </a:r>
            <a:endParaRPr lang="en-US" sz="1300" dirty="0"/>
          </a:p>
        </p:txBody>
      </p:sp>
      <p:sp>
        <p:nvSpPr>
          <p:cNvPr id="18" name="attempt 4"/>
          <p:cNvSpPr/>
          <p:nvPr/>
        </p:nvSpPr>
        <p:spPr>
          <a:xfrm>
            <a:off x="640080" y="480974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301F"/>
          </a:solidFill>
          <a:ln w="12700">
            <a:solidFill>
              <a:srgbClr val="13301F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914400" y="5047488"/>
            <a:ext cx="475488" cy="475488"/>
          </a:xfrm>
          <a:prstGeom prst="ellipse">
            <a:avLst/>
          </a:prstGeom>
          <a:solidFill>
            <a:srgbClr val="3CE87C"/>
          </a:solidFill>
          <a:ln w="12700">
            <a:solidFill>
              <a:srgbClr val="3CE87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08406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620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Allocated green duration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4965192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It worked. Choosing which road is binary; how long is where a bad measure costs you.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Scooter feeder meets bus arterial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92240" y="14630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+1,911 ± 848 more people moved than what is deployed today — and no road left starving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We found the flaw in our own fix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640080" y="14630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2A1518"/>
          </a:solidFill>
          <a:ln w="12700">
            <a:solidFill>
              <a:srgbClr val="2A1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A5A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488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Optimising green-seconds-per-vehicle treats a two-wheeler road as cheap — and therefore low value. It scored badly on exactly the thing being maximised.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feeder starved: 184 ticks of waiting. In an Indian city those riders are the least able to absorb it.</a:t>
            </a:r>
            <a:endParaRPr lang="en-US" sz="1400" dirty="0"/>
          </a:p>
        </p:txBody>
      </p:sp>
      <p:sp>
        <p:nvSpPr>
          <p:cNvPr id="6" name="fix card"/>
          <p:cNvSpPr/>
          <p:nvPr/>
        </p:nvSpPr>
        <p:spPr>
          <a:xfrm>
            <a:off x="6309360" y="14630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3301F"/>
          </a:solidFill>
          <a:ln w="12700">
            <a:solidFill>
              <a:srgbClr val="133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E87C"/>
                </a:solidFill>
              </a:rPr>
              <a:t>The fix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1488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 were optimising a proxy. Road efficiency is a constraint, not the goal.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 we score each road by people moved per second of green, with an explicit fairness term on accumulated red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Worst-case waiting fell from 184 ticks to 37 — a five-fold cut — while still beating what is deployed today.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standard metrics turned out to be gameable</a:t>
            </a:r>
            <a:endParaRPr lang="en-US" sz="3600" dirty="0"/>
          </a:p>
        </p:txBody>
      </p:sp>
      <p:sp>
        <p:nvSpPr>
          <p:cNvPr id="3" name="trap one"/>
          <p:cNvSpPr/>
          <p:nvPr/>
        </p:nvSpPr>
        <p:spPr>
          <a:xfrm>
            <a:off x="640080" y="14630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signal housing"/>
          <p:cNvSpPr/>
          <p:nvPr/>
        </p:nvSpPr>
        <p:spPr>
          <a:xfrm>
            <a:off x="960120" y="1737360"/>
            <a:ext cx="373075" cy="893826"/>
          </a:xfrm>
          <a:prstGeom prst="roundRect">
            <a:avLst>
              <a:gd name="adj" fmla="val 14706"/>
            </a:avLst>
          </a:prstGeom>
          <a:solidFill>
            <a:srgbClr val="09111A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5" name="lamp 0"/>
          <p:cNvSpPr/>
          <p:nvPr/>
        </p:nvSpPr>
        <p:spPr>
          <a:xfrm>
            <a:off x="1045616" y="1799539"/>
            <a:ext cx="202082" cy="202082"/>
          </a:xfrm>
          <a:prstGeom prst="ellipse">
            <a:avLst/>
          </a:prstGeom>
          <a:solidFill>
            <a:srgbClr val="FF5A5A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6" name="lamp 1"/>
          <p:cNvSpPr/>
          <p:nvPr/>
        </p:nvSpPr>
        <p:spPr>
          <a:xfrm>
            <a:off x="1045616" y="2056028"/>
            <a:ext cx="202082" cy="202082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7" name="lamp 2"/>
          <p:cNvSpPr/>
          <p:nvPr/>
        </p:nvSpPr>
        <p:spPr>
          <a:xfrm>
            <a:off x="1045616" y="2312518"/>
            <a:ext cx="202082" cy="202082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Average queue rewards refusing traffic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4320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road held at red fills up and then turns arrivals away. Those vehicles never enter the network, so they never appear in the statistic.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plain fixed clock "beat" our controller by blocking about 100 more vehicles per run while serving fewer.</a:t>
            </a:r>
            <a:endParaRPr lang="en-US" sz="1400" dirty="0"/>
          </a:p>
        </p:txBody>
      </p:sp>
      <p:sp>
        <p:nvSpPr>
          <p:cNvPr id="10" name="trap two"/>
          <p:cNvSpPr/>
          <p:nvPr/>
        </p:nvSpPr>
        <p:spPr>
          <a:xfrm>
            <a:off x="6263640" y="14630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1" name="signal housing"/>
          <p:cNvSpPr/>
          <p:nvPr/>
        </p:nvSpPr>
        <p:spPr>
          <a:xfrm>
            <a:off x="6583680" y="1737360"/>
            <a:ext cx="373075" cy="893826"/>
          </a:xfrm>
          <a:prstGeom prst="roundRect">
            <a:avLst>
              <a:gd name="adj" fmla="val 14706"/>
            </a:avLst>
          </a:prstGeom>
          <a:solidFill>
            <a:srgbClr val="09111A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2" name="lamp 0"/>
          <p:cNvSpPr/>
          <p:nvPr/>
        </p:nvSpPr>
        <p:spPr>
          <a:xfrm>
            <a:off x="6669176" y="1799539"/>
            <a:ext cx="202082" cy="202082"/>
          </a:xfrm>
          <a:prstGeom prst="ellipse">
            <a:avLst/>
          </a:prstGeom>
          <a:solidFill>
            <a:srgbClr val="FF5A5A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13" name="lamp 1"/>
          <p:cNvSpPr/>
          <p:nvPr/>
        </p:nvSpPr>
        <p:spPr>
          <a:xfrm>
            <a:off x="6669176" y="2056028"/>
            <a:ext cx="202082" cy="202082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4" name="lamp 2"/>
          <p:cNvSpPr/>
          <p:nvPr/>
        </p:nvSpPr>
        <p:spPr>
          <a:xfrm>
            <a:off x="6669176" y="2312518"/>
            <a:ext cx="202082" cy="202082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Mean delay hides starvation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4320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Our first RL controller posted the lowest mean queue in the benchmark — by learning to keep some approaches permanently red.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Its 95th-percentile delay was 66 ticks against a fixed clock’s 27. Every claim we make now carries p95 and worst-case beside the average.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Built to be installed, not just benchmarked</a:t>
            </a:r>
            <a:endParaRPr lang="en-US" sz="3600" dirty="0"/>
          </a:p>
        </p:txBody>
      </p:sp>
      <p:sp>
        <p:nvSpPr>
          <p:cNvPr id="3" name="pillar Safety shield"/>
          <p:cNvSpPr/>
          <p:nvPr/>
        </p:nvSpPr>
        <p:spPr>
          <a:xfrm>
            <a:off x="640080" y="1463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4" name="dot 0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3CE87C"/>
          </a:solidFill>
          <a:ln w="12700">
            <a:solidFill>
              <a:srgbClr val="3CE8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08760" y="1700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Safety shield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Minimum green, starvation limits, a guaranteed maximum pedestrian wait. The optimiser proposes; the shield disposes.</a:t>
            </a:r>
            <a:endParaRPr lang="en-US" sz="1300" dirty="0"/>
          </a:p>
        </p:txBody>
      </p:sp>
      <p:sp>
        <p:nvSpPr>
          <p:cNvPr id="7" name="pillar Fails safe"/>
          <p:cNvSpPr/>
          <p:nvPr/>
        </p:nvSpPr>
        <p:spPr>
          <a:xfrm>
            <a:off x="6309360" y="1463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8" name="dot 1"/>
          <p:cNvSpPr/>
          <p:nvPr/>
        </p:nvSpPr>
        <p:spPr>
          <a:xfrm>
            <a:off x="6583680" y="1737360"/>
            <a:ext cx="384048" cy="3840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1700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Fails safe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Kill a detector, drop comms, fail a signal head — each routes to a documented fallback and the UI says which.</a:t>
            </a:r>
            <a:endParaRPr lang="en-US" sz="1300" dirty="0"/>
          </a:p>
        </p:txBody>
      </p:sp>
      <p:sp>
        <p:nvSpPr>
          <p:cNvPr id="11" name="pillar Explains itself"/>
          <p:cNvSpPr/>
          <p:nvPr/>
        </p:nvSpPr>
        <p:spPr>
          <a:xfrm>
            <a:off x="640080" y="35661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2" name="dot 2"/>
          <p:cNvSpPr/>
          <p:nvPr/>
        </p:nvSpPr>
        <p:spPr>
          <a:xfrm>
            <a:off x="914400" y="3840480"/>
            <a:ext cx="384048" cy="384048"/>
          </a:xfrm>
          <a:prstGeom prst="ellipse">
            <a:avLst/>
          </a:prstGeom>
          <a:solidFill>
            <a:srgbClr val="8FD8FF"/>
          </a:solidFill>
          <a:ln w="12700">
            <a:solidFill>
              <a:srgbClr val="8FD8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38039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Explains itself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43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Every phase change is logged with the pressures behind it and the constraint that overrode the optimiser.</a:t>
            </a:r>
            <a:endParaRPr lang="en-US" sz="1300" dirty="0"/>
          </a:p>
        </p:txBody>
      </p:sp>
      <p:sp>
        <p:nvSpPr>
          <p:cNvPr id="15" name="pillar Speaks in city units"/>
          <p:cNvSpPr/>
          <p:nvPr/>
        </p:nvSpPr>
        <p:spPr>
          <a:xfrm>
            <a:off x="6309360" y="35661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6" name="dot 3"/>
          <p:cNvSpPr/>
          <p:nvPr/>
        </p:nvSpPr>
        <p:spPr>
          <a:xfrm>
            <a:off x="6583680" y="384048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38039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Speaks in city units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343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Idle fuel, CO₂ and rupees per year, with every assumption listed and challengeable.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number in this deck re-runs on demand</a:t>
            </a:r>
            <a:endParaRPr lang="en-US" sz="3600" dirty="0"/>
          </a:p>
        </p:txBody>
      </p:sp>
      <p:sp>
        <p:nvSpPr>
          <p:cNvPr id="3" name="command card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E1620"/>
          </a:solidFill>
          <a:ln w="12700">
            <a:solidFill>
              <a:srgbClr val="0E16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E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scripts/reproduce_results.py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7B8"/>
                </a:solidFill>
              </a:rPr>
              <a:t>Re-measures every documented claim and exits non-zero if one has stopped being true.</a:t>
            </a:r>
            <a:endParaRPr lang="en-US" sz="1400" dirty="0"/>
          </a:p>
        </p:txBody>
      </p:sp>
      <p:sp>
        <p:nvSpPr>
          <p:cNvPr id="6" name="stat claims reproduced"/>
          <p:cNvSpPr txBox="1"/>
          <p:nvPr/>
        </p:nvSpPr>
        <p:spPr>
          <a:xfrm>
            <a:off x="640080" y="3108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CE87C"/>
                </a:solidFill>
              </a:rPr>
              <a:t>10/10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claims reproduced</a:t>
            </a:r>
            <a:endParaRPr lang="en-US" sz="1300" dirty="0"/>
          </a:p>
        </p:txBody>
      </p:sp>
      <p:sp>
        <p:nvSpPr>
          <p:cNvPr id="8" name="stat automated tests"/>
          <p:cNvSpPr txBox="1"/>
          <p:nvPr/>
        </p:nvSpPr>
        <p:spPr>
          <a:xfrm>
            <a:off x="4389120" y="3108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119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automated tests</a:t>
            </a:r>
            <a:endParaRPr lang="en-US" sz="1300" dirty="0"/>
          </a:p>
        </p:txBody>
      </p:sp>
      <p:sp>
        <p:nvSpPr>
          <p:cNvPr id="10" name="stat fails on drift"/>
          <p:cNvSpPr txBox="1"/>
          <p:nvPr/>
        </p:nvSpPr>
        <p:spPr>
          <a:xfrm>
            <a:off x="8138160" y="3108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347"/>
                </a:solidFill>
              </a:rPr>
              <a:t>CI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fails on drift</a:t>
            </a:r>
            <a:endParaRPr lang="en-US" sz="1300" dirty="0"/>
          </a:p>
        </p:txBody>
      </p:sp>
      <p:sp>
        <p:nvSpPr>
          <p:cNvPr id="12" name="negatives card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8646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 verifies the results that went against us, too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257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claim that our correction changes nothing when both roads carry the same traffic must keep coming back with a confidence interval spanning zero. If a future change makes that pass for the wrong reason, the build goes 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are not claiming</a:t>
            </a:r>
            <a:endParaRPr lang="en-US" sz="3600" dirty="0"/>
          </a:p>
        </p:txBody>
      </p:sp>
      <p:sp>
        <p:nvSpPr>
          <p:cNvPr id="3" name="limit 0"/>
          <p:cNvSpPr/>
          <p:nvPr/>
        </p:nvSpPr>
        <p:spPr>
          <a:xfrm>
            <a:off x="640080" y="14173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4533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</a:rPr>
              <a:t>Parameters are estimates, not measurements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154533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Lateral widths and headways are centre estimates. Calibrating them needs stop-line video from a real junction, which we have not done.</a:t>
            </a:r>
            <a:endParaRPr lang="en-US" sz="1300" dirty="0"/>
          </a:p>
        </p:txBody>
      </p:sp>
      <p:sp>
        <p:nvSpPr>
          <p:cNvPr id="6" name="limit 1"/>
          <p:cNvSpPr/>
          <p:nvPr/>
        </p:nvSpPr>
        <p:spPr>
          <a:xfrm>
            <a:off x="640080" y="2578608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066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</a:rPr>
              <a:t>It trades vehicles for people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70662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About 1,800 fewer vehicles move while 1,900 more people do. Whether a city wants that is a policy decision, not a technical result.</a:t>
            </a:r>
            <a:endParaRPr lang="en-US" sz="1300" dirty="0"/>
          </a:p>
        </p:txBody>
      </p:sp>
      <p:sp>
        <p:nvSpPr>
          <p:cNvPr id="9" name="limit 2"/>
          <p:cNvSpPr/>
          <p:nvPr/>
        </p:nvSpPr>
        <p:spPr>
          <a:xfrm>
            <a:off x="640080" y="373989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86791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</a:rPr>
              <a:t>It loses where traffic is uniform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3867912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With every road carrying the same mix it is measurably behind the conventional controller. It pays only when roads differ and green is scarce.</a:t>
            </a:r>
            <a:endParaRPr lang="en-US" sz="1300" dirty="0"/>
          </a:p>
        </p:txBody>
      </p:sp>
      <p:sp>
        <p:nvSpPr>
          <p:cNvPr id="12" name="limit 3"/>
          <p:cNvSpPr/>
          <p:nvPr/>
        </p:nvSpPr>
        <p:spPr>
          <a:xfrm>
            <a:off x="640080" y="490118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</a:rPr>
              <a:t>The engine is not a traffic simulator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502920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7B8"/>
                </a:solidFill>
              </a:rPr>
              <a:t>Final performance claims must be regenerated in SUMO with a heterogeneous vehicle 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7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Measure the right thing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rgbClr val="94A7B8"/>
                </a:solidFill>
              </a:rPr>
              <a:t>Control theory imported from the West assumes lane discipline. We modelled lane-less traffic from physics, showed the standard method mis-allocates green by 21%, and fixed the equity problem that correction created.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</a:rPr>
              <a:t>Every figure re-runs with one command — including the ones that went against us.</a:t>
            </a:r>
            <a:endParaRPr lang="en-US" sz="1700" dirty="0"/>
          </a:p>
        </p:txBody>
      </p:sp>
      <p:sp>
        <p:nvSpPr>
          <p:cNvPr id="4" name="signal housing"/>
          <p:cNvSpPr/>
          <p:nvPr/>
        </p:nvSpPr>
        <p:spPr>
          <a:xfrm>
            <a:off x="10149840" y="2103120"/>
            <a:ext cx="702259" cy="1682496"/>
          </a:xfrm>
          <a:prstGeom prst="roundRect">
            <a:avLst>
              <a:gd name="adj" fmla="val 7813"/>
            </a:avLst>
          </a:prstGeom>
          <a:solidFill>
            <a:srgbClr val="09111A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5" name="lamp 0"/>
          <p:cNvSpPr/>
          <p:nvPr/>
        </p:nvSpPr>
        <p:spPr>
          <a:xfrm>
            <a:off x="10310774" y="2220163"/>
            <a:ext cx="380390" cy="380390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6" name="lamp 1"/>
          <p:cNvSpPr/>
          <p:nvPr/>
        </p:nvSpPr>
        <p:spPr>
          <a:xfrm>
            <a:off x="10310774" y="2702966"/>
            <a:ext cx="380390" cy="380390"/>
          </a:xfrm>
          <a:prstGeom prst="ellipse">
            <a:avLst/>
          </a:prstGeom>
          <a:solidFill>
            <a:srgbClr val="1B2730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7" name="lamp 2"/>
          <p:cNvSpPr/>
          <p:nvPr/>
        </p:nvSpPr>
        <p:spPr>
          <a:xfrm>
            <a:off x="10310774" y="3185770"/>
            <a:ext cx="380390" cy="380390"/>
          </a:xfrm>
          <a:prstGeom prst="ellipse">
            <a:avLst/>
          </a:prstGeom>
          <a:solidFill>
            <a:srgbClr val="3CE87C"/>
          </a:solidFill>
          <a:ln w="12700">
            <a:solidFill>
              <a:srgbClr val="3CE87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martTraffic Signal">
  <a:themeElements>
    <a:clrScheme name="SmartTraffic Signal">
      <a:dk1>
        <a:srgbClr val="0E1620"/>
      </a:dk1>
      <a:lt1>
        <a:srgbClr val="FFFFFF"/>
      </a:lt1>
      <a:dk2>
        <a:srgbClr val="1B2A3A"/>
      </a:dk2>
      <a:lt2>
        <a:srgbClr val="EEF3F7"/>
      </a:lt2>
      <a:accent1>
        <a:srgbClr val="FFB347"/>
      </a:accent1>
      <a:accent2>
        <a:srgbClr val="3CE87C"/>
      </a:accent2>
      <a:accent3>
        <a:srgbClr val="FF5A5A"/>
      </a:accent3>
      <a:accent4>
        <a:srgbClr val="8FD8FF"/>
      </a:accent4>
      <a:accent5>
        <a:srgbClr val="94A7B8"/>
      </a:accent5>
      <a:accent6>
        <a:srgbClr val="C9A227"/>
      </a:accent6>
      <a:hlink>
        <a:srgbClr val="8FD8FF"/>
      </a:hlink>
      <a:folHlink>
        <a:srgbClr val="94A7B8"/>
      </a:folHlink>
    </a:clrScheme>
    <a:fontScheme name="SmartTraffic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SmartTraffic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SmartTraffic — adaptive signal control for lane-less traffic</dc:title>
  <dc:subject>PptxGenJS Presentation</dc:subject>
  <dc:creator>Rishab CV</dc:creator>
  <cp:lastModifiedBy>Rishab CV</cp:lastModifiedBy>
  <cp:revision>1</cp:revision>
  <dcterms:created xsi:type="dcterms:W3CDTF">2026-10-06T13:55:13Z</dcterms:created>
  <dcterms:modified xsi:type="dcterms:W3CDTF">2026-10-06T13:55:13Z</dcterms:modified>
</cp:coreProperties>
</file>