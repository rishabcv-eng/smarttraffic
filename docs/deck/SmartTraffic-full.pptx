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4d03c8c9-e649-9df5-f280-6b5135f24dd1}">
          <p14:sldIdLst>
            <p14:sldId id="256"/>
          </p14:sldIdLst>
        </p14:section>
        <p14:section name="Problem" id="{02816636-7aa8-73a5-88dd-69efb34e2c04}">
          <p14:sldIdLst>
            <p14:sldId id="257"/>
            <p14:sldId id="258"/>
          </p14:sldIdLst>
        </p14:section>
        <p14:section name="The novelty" id="{c32cfb3f-bbe0-c1d6-0cad-5c7bb16e6993}">
          <p14:sldIdLst>
            <p14:sldId id="259"/>
            <p14:sldId id="260"/>
            <p14:sldId id="261"/>
          </p14:sldIdLst>
        </p14:section>
        <p14:section name="Method" id="{f5bd2a7e-7b43-92d2-2c43-e14ed98f7984}">
          <p14:sldIdLst>
            <p14:sldId id="262"/>
          </p14:sldIdLst>
        </p14:section>
        <p14:section name="Results" id="{a04a95a8-5c2e-b631-d3aa-05b7b41bbdbb}">
          <p14:sldIdLst>
            <p14:sldId id="263"/>
            <p14:sldId id="264"/>
            <p14:sldId id="265"/>
          </p14:sldIdLst>
        </p14:section>
        <p14:section name="Deployability" id="{173d2d04-fa0a-2b0f-e664-0d7c8200d78d}">
          <p14:sldIdLst>
            <p14:sldId id="266"/>
            <p14:sldId id="267"/>
            <p14:sldId id="268"/>
          </p14:sldIdLst>
        </p14:section>
        <p14:section name="Close" id="{88977661-7cbd-35d8-0e0d-75d6b4f44ecb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7534B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57534B"/>
                </a:solidFill>
                <a:latin typeface="+mn-lt"/>
              </a:rPr>
              <a:t>Car-equivalents per vehicle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Static PCU (used today)</c:v>
                </c:pt>
              </c:strCache>
            </c:strRef>
          </c:tx>
          <c:spPr>
            <a:solidFill>
              <a:srgbClr val="8C887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7534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Two-wheeler</c:v>
                  </c:pt>
                  <c:pt idx="1">
                    <c:v>Auto</c:v>
                  </c:pt>
                  <c:pt idx="2">
                    <c:v>Car</c:v>
                  </c:pt>
                  <c:pt idx="3">
                    <c:v>Bus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</c:v>
                </c:pt>
                <c:pt idx="1">
                  <c:v>0.8</c:v>
                </c:pt>
                <c:pt idx="2">
                  <c:v>1</c:v>
                </c:pt>
                <c:pt idx="3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Implied by real discharge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7534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Two-wheeler</c:v>
                  </c:pt>
                  <c:pt idx="1">
                    <c:v>Auto</c:v>
                  </c:pt>
                  <c:pt idx="2">
                    <c:v>Car</c:v>
                  </c:pt>
                  <c:pt idx="3">
                    <c:v>Bus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0.32</c:v>
                </c:pt>
                <c:pt idx="1">
                  <c:v>0.66</c:v>
                </c:pt>
                <c:pt idx="2">
                  <c:v>1</c:v>
                </c:pt>
                <c:pt idx="3">
                  <c:v>1.8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57534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C887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2"/>
          <c:min val="0"/>
        </c:scaling>
        <c:delete val="0"/>
        <c:axPos val="l"/>
        <c:majorGridlines>
          <c:spPr>
            <a:ln w="12700" cap="flat">
              <a:solidFill>
                <a:srgbClr val="D6D1C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C88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7534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7534B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57534B"/>
                </a:solidFill>
                <a:latin typeface="+mn-lt"/>
              </a:rPr>
              <a:t>Two-wheeler share of the queue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Green allocated beyond need</c:v>
                </c:pt>
              </c:strCache>
            </c:strRef>
          </c:tx>
          <c:spPr>
            <a:solidFill>
              <a:srgbClr val="C8503F"/>
            </a:solidFill>
            <a:ln w="50800" cap="flat">
              <a:solidFill>
                <a:srgbClr val="C8503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7534B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8503F"/>
              </a:solidFill>
              <a:ln w="9525" cap="flat">
                <a:solidFill>
                  <a:srgbClr val="C8503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0%</c:v>
                  </c:pt>
                  <c:pt idx="1">
                    <c:v>15%</c:v>
                  </c:pt>
                  <c:pt idx="2">
                    <c:v>30%</c:v>
                  </c:pt>
                  <c:pt idx="3">
                    <c:v>45%</c:v>
                  </c:pt>
                  <c:pt idx="4">
                    <c:v>60%</c:v>
                  </c:pt>
                  <c:pt idx="5">
                    <c:v>75%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</c:v>
                </c:pt>
                <c:pt idx="1">
                  <c:v>9.3</c:v>
                </c:pt>
                <c:pt idx="2">
                  <c:v>14.5</c:v>
                </c:pt>
                <c:pt idx="3">
                  <c:v>21.5</c:v>
                </c:pt>
                <c:pt idx="4">
                  <c:v>29.1</c:v>
                </c:pt>
                <c:pt idx="5">
                  <c:v>39.5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57534B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C887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D6D1C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C88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7534B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57534B"/>
                </a:solidFill>
                <a:latin typeface="+mn-lt"/>
              </a:rPr>
              <a:t>People moved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People moved</c:v>
                </c:pt>
              </c:strCache>
            </c:strRef>
          </c:tx>
          <c:spPr>
            <a:solidFill>
              <a:srgbClr val="8C887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7534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C887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8503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AA84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Static PCU
(deployed today)</c:v>
                  </c:pt>
                  <c:pt idx="1">
                    <c:v>Efficiency only</c:v>
                  </c:pt>
                  <c:pt idx="2">
                    <c:v>People per second
(ours)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34772</c:v>
                </c:pt>
                <c:pt idx="1">
                  <c:v>41099</c:v>
                </c:pt>
                <c:pt idx="2">
                  <c:v>36683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57534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C887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6000"/>
          <c:min val="0"/>
        </c:scaling>
        <c:delete val="0"/>
        <c:axPos val="l"/>
        <c:majorGridlines>
          <c:spPr>
            <a:ln w="12700" cap="flat">
              <a:solidFill>
                <a:srgbClr val="D6D1C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C88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7534B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57534B"/>
                </a:solidFill>
                <a:latin typeface="+mn-lt"/>
              </a:rPr>
              <a:t>Worst approach wait (ticks) — lower is better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Worst approach wait</c:v>
                </c:pt>
              </c:strCache>
            </c:strRef>
          </c:tx>
          <c:spPr>
            <a:solidFill>
              <a:srgbClr val="8C887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7534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C887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8503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AA84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Static PCU
(deployed today)</c:v>
                  </c:pt>
                  <c:pt idx="1">
                    <c:v>Efficiency only</c:v>
                  </c:pt>
                  <c:pt idx="2">
                    <c:v>People per second
(ours)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31.5</c:v>
                </c:pt>
                <c:pt idx="1">
                  <c:v>184.5</c:v>
                </c:pt>
                <c:pt idx="2">
                  <c:v>37.1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57534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C887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15"/>
          <c:min val="0"/>
        </c:scaling>
        <c:delete val="0"/>
        <c:axPos val="l"/>
        <c:majorGridlines>
          <c:spPr>
            <a:ln w="12700" cap="flat">
              <a:solidFill>
                <a:srgbClr val="D6D1C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C88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line: we built an adaptive traffic signal controller, and the part that is genuinely new is that it is designed for traffic without lane discipline. Everything I show you can be re-run from the repository with one command.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why signals matter, and plant the assumption that the whole deck turns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 out loud early. Judges respect a team that knows which parts of its own project are textbook. It buys credibility for the part that is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pivot of the whole deck. Pause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car column being identical is the important detail. It shows we have not just invented numbers that suit us — where the old assumption holds, we agree with it exactly.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"how do you know your parameters are right" — point at the sweep. We do not need them to be exactly right for the conclusion to hold.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deliberately about failure. The third attempt is the one to dwell on: we found our own fix had raised capacity so much that nothing was scarce. That diagnosis is the actual engineering.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red bar on the right. That is our own first attempt, and it is unusable: it leaves one road red for minutes. Showing it is the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remember one slide, remember this one. A team that finds the equity problem in its own result, and says so before being asked, is a team worth trusting.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findings about how the field evaluates itself, not just about our code. Both were caught by our own benchmark, which is the argument for building one properly.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brisk — 30 seconds. It is table stakes, not the headline.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separates us from a demo. Offer to run it live if they want.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Volunteering limitations before being asked changes how the rest of the deck is heard. It is also the honest position.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one-sentence version. Then offer the live demo: the Mixed fleet tab runs the whole study in front of them, and the control condition is a checkbox.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286000"/>
            <a:ext cx="108813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749040"/>
            <a:ext cx="108813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rgbClr val="8C887F"/>
                </a:solidFill>
              </a:defRPr>
            </a:lvl1pPr>
          </a:lstStyle>
          <a:p>
            <a:pPr indent="0" marL="0">
              <a:buNone/>
            </a:pPr>
            <a:endParaRPr lang="en-US" sz="17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DIVIDER">
    <p:bg>
      <p:bgPr>
        <a:solidFill>
          <a:srgbClr val="212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E8A33D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749040"/>
            <a:ext cx="108813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7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 txBox="1"/>
          <p:nvPr/>
        </p:nvSpPr>
        <p:spPr>
          <a:xfrm>
            <a:off x="640080" y="6263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87F"/>
                </a:solidFill>
              </a:rPr>
              <a:t>SmartTraffic · Design of Smart Cities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8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 txBox="1"/>
          <p:nvPr/>
        </p:nvSpPr>
        <p:spPr>
          <a:xfrm>
            <a:off x="640080" y="6263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87F"/>
                </a:solidFill>
              </a:rPr>
              <a:t>SmartTraffic · Design of Smart Cities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8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8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286000"/>
            <a:ext cx="10881360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SmartTraffic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749040"/>
            <a:ext cx="10881360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700" dirty="0">
                <a:solidFill>
                  <a:srgbClr val="8C887F"/>
                </a:solidFill>
              </a:rPr>
              <a:t>Adaptive signal control built for lane-less Indian traffic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E8A33D"/>
                </a:solidFill>
              </a:rPr>
              <a:t>Design of Smart Cities   ·   15 controllers   ·   119 tests   ·   every claim reproducible</a:t>
            </a:r>
            <a:endParaRPr lang="en-US" sz="1700" dirty="0"/>
          </a:p>
        </p:txBody>
      </p:sp>
      <p:sp>
        <p:nvSpPr>
          <p:cNvPr id="4" name="team card"/>
          <p:cNvSpPr/>
          <p:nvPr/>
        </p:nvSpPr>
        <p:spPr>
          <a:xfrm>
            <a:off x="640080" y="5257800"/>
            <a:ext cx="6035040" cy="1051560"/>
          </a:xfrm>
          <a:prstGeom prst="roundRect">
            <a:avLst>
              <a:gd name="adj" fmla="val 1739"/>
            </a:avLst>
          </a:prstGeom>
          <a:solidFill>
            <a:srgbClr val="21222A"/>
          </a:solidFill>
          <a:ln w="12700">
            <a:solidFill>
              <a:srgbClr val="2122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5394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Rishab CV</a:t>
            </a:r>
            <a:pPr indent="0" marL="0">
              <a:buNone/>
            </a:pPr>
            <a:r>
              <a:rPr lang="en-US" sz="1500" dirty="0">
                <a:solidFill>
                  <a:srgbClr val="E8A33D"/>
                </a:solidFill>
              </a:rPr>
              <a:t>   24BCE5296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57881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Martin Wills</a:t>
            </a:r>
            <a:pPr indent="0" marL="0">
              <a:buNone/>
            </a:pPr>
            <a:r>
              <a:rPr lang="en-US" sz="1500" dirty="0">
                <a:solidFill>
                  <a:srgbClr val="E8A33D"/>
                </a:solidFill>
              </a:rPr>
              <a:t>   24BCE5255</a:t>
            </a:r>
            <a:endParaRPr lang="en-US" sz="1500" dirty="0"/>
          </a:p>
        </p:txBody>
      </p:sp>
      <p:sp>
        <p:nvSpPr>
          <p:cNvPr id="7" name="signal housing"/>
          <p:cNvSpPr/>
          <p:nvPr/>
        </p:nvSpPr>
        <p:spPr>
          <a:xfrm>
            <a:off x="10149840" y="2103120"/>
            <a:ext cx="702259" cy="1682496"/>
          </a:xfrm>
          <a:prstGeom prst="roundRect">
            <a:avLst>
              <a:gd name="adj" fmla="val 2604"/>
            </a:avLst>
          </a:prstGeom>
          <a:solidFill>
            <a:srgbClr val="111115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8" name="lamp 0"/>
          <p:cNvSpPr/>
          <p:nvPr/>
        </p:nvSpPr>
        <p:spPr>
          <a:xfrm>
            <a:off x="10310774" y="2220163"/>
            <a:ext cx="380390" cy="380390"/>
          </a:xfrm>
          <a:prstGeom prst="ellipse">
            <a:avLst/>
          </a:prstGeom>
          <a:solidFill>
            <a:srgbClr val="26262C"/>
          </a:solidFill>
          <a:ln w="12700">
            <a:solidFill>
              <a:srgbClr val="2E2E34"/>
            </a:solidFill>
            <a:prstDash val="solid"/>
          </a:ln>
        </p:spPr>
      </p:sp>
      <p:sp>
        <p:nvSpPr>
          <p:cNvPr id="9" name="lamp 1"/>
          <p:cNvSpPr/>
          <p:nvPr/>
        </p:nvSpPr>
        <p:spPr>
          <a:xfrm>
            <a:off x="10310774" y="2702966"/>
            <a:ext cx="380390" cy="380390"/>
          </a:xfrm>
          <a:prstGeom prst="ellipse">
            <a:avLst/>
          </a:prstGeom>
          <a:solidFill>
            <a:srgbClr val="26262C"/>
          </a:solidFill>
          <a:ln w="12700">
            <a:solidFill>
              <a:srgbClr val="2E2E34"/>
            </a:solidFill>
            <a:prstDash val="solid"/>
          </a:ln>
        </p:spPr>
      </p:sp>
      <p:sp>
        <p:nvSpPr>
          <p:cNvPr id="10" name="lamp 2"/>
          <p:cNvSpPr/>
          <p:nvPr/>
        </p:nvSpPr>
        <p:spPr>
          <a:xfrm>
            <a:off x="10310774" y="3185770"/>
            <a:ext cx="380390" cy="380390"/>
          </a:xfrm>
          <a:prstGeom prst="ellipse">
            <a:avLst/>
          </a:prstGeom>
          <a:solidFill>
            <a:srgbClr val="6AA84F"/>
          </a:solidFill>
          <a:ln w="12700">
            <a:solidFill>
              <a:srgbClr val="6AA84F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14:push dir="u"/>
      </p:transition>
    </mc:Choice>
    <mc:Fallback>
      <p:transition spd="slow">
        <p:push dir="u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Chennai loses 132 hours per commuter, per year</a:t>
            </a:r>
            <a:endParaRPr lang="en-US" sz="3600" dirty="0"/>
          </a:p>
        </p:txBody>
      </p:sp>
      <p:sp>
        <p:nvSpPr>
          <p:cNvPr id="3" name="stat to travel 10 km"/>
          <p:cNvSpPr txBox="1"/>
          <p:nvPr/>
        </p:nvSpPr>
        <p:spPr>
          <a:xfrm>
            <a:off x="640080" y="15544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8503F"/>
                </a:solidFill>
              </a:rPr>
              <a:t>31:15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331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to travel 10 km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43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C887F"/>
                </a:solidFill>
              </a:rPr>
              <a:t>TomTom Traffic Index 2025</a:t>
            </a:r>
            <a:endParaRPr lang="en-US" sz="1000" dirty="0"/>
          </a:p>
        </p:txBody>
      </p:sp>
      <p:sp>
        <p:nvSpPr>
          <p:cNvPr id="6" name="stat evening congestion"/>
          <p:cNvSpPr txBox="1"/>
          <p:nvPr/>
        </p:nvSpPr>
        <p:spPr>
          <a:xfrm>
            <a:off x="4206240" y="15544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8503F"/>
                </a:solidFill>
              </a:rPr>
              <a:t>100.9%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2331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evening congestion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2743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C887F"/>
                </a:solidFill>
              </a:rPr>
              <a:t>a trip takes twice free-flow</a:t>
            </a:r>
            <a:endParaRPr lang="en-US" sz="1000" dirty="0"/>
          </a:p>
        </p:txBody>
      </p:sp>
      <p:sp>
        <p:nvSpPr>
          <p:cNvPr id="9" name="stat peak speed"/>
          <p:cNvSpPr txBox="1"/>
          <p:nvPr/>
        </p:nvSpPr>
        <p:spPr>
          <a:xfrm>
            <a:off x="7772400" y="15544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8503F"/>
                </a:solidFill>
              </a:rPr>
              <a:t>16 km/h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7772400" y="2331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peak speed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772400" y="2743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C887F"/>
                </a:solidFill>
              </a:rPr>
              <a:t>slower than a bicycle downhill</a:t>
            </a:r>
            <a:endParaRPr lang="en-US" sz="1000" dirty="0"/>
          </a:p>
        </p:txBody>
      </p:sp>
      <p:sp>
        <p:nvSpPr>
          <p:cNvPr id="12" name="problem card"/>
          <p:cNvSpPr/>
          <p:nvPr/>
        </p:nvSpPr>
        <p:spPr>
          <a:xfrm>
            <a:off x="640080" y="3566160"/>
            <a:ext cx="10881360" cy="1783080"/>
          </a:xfrm>
          <a:prstGeom prst="roundRect">
            <a:avLst>
              <a:gd name="adj" fmla="val 1026"/>
            </a:avLst>
          </a:prstGeom>
          <a:solidFill>
            <a:srgbClr val="E4E0D8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3749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Signals are the cheapest lever a city has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420624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New roads take years and land nobody has. Retiming the signals on a corridor is software. The catch is that the control theory every adaptive system is built on was written for traffic that queues in lanes — and Indian traffic does not.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8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14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What is standard, and what is ours</a:t>
            </a:r>
            <a:endParaRPr lang="en-US" sz="3600" dirty="0"/>
          </a:p>
        </p:txBody>
      </p:sp>
      <p:sp>
        <p:nvSpPr>
          <p:cNvPr id="3" name="standard card"/>
          <p:cNvSpPr/>
          <p:nvPr/>
        </p:nvSpPr>
        <p:spPr>
          <a:xfrm>
            <a:off x="640080" y="1417320"/>
            <a:ext cx="5303520" cy="4206240"/>
          </a:xfrm>
          <a:prstGeom prst="roundRect">
            <a:avLst>
              <a:gd name="adj" fmla="val 435"/>
            </a:avLst>
          </a:prstGeom>
          <a:solidFill>
            <a:srgbClr val="21222A"/>
          </a:solidFill>
          <a:ln w="12700">
            <a:solidFill>
              <a:srgbClr val="2122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887F"/>
                </a:solidFill>
              </a:rPr>
              <a:t>Established work — implemented, not claimed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14884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Max-pressure control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Green-wave coordination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Emergency vehicle preemption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Transit signal priority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Reinforcement learning for signals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YOLO vehicle counting</a:t>
            </a:r>
            <a:endParaRPr lang="en-US" sz="1500" dirty="0"/>
          </a:p>
        </p:txBody>
      </p:sp>
      <p:sp>
        <p:nvSpPr>
          <p:cNvPr id="6" name="ours card"/>
          <p:cNvSpPr/>
          <p:nvPr/>
        </p:nvSpPr>
        <p:spPr>
          <a:xfrm>
            <a:off x="6217920" y="1417320"/>
            <a:ext cx="5303520" cy="4206240"/>
          </a:xfrm>
          <a:prstGeom prst="roundRect">
            <a:avLst>
              <a:gd name="adj" fmla="val 435"/>
            </a:avLst>
          </a:prstGeom>
          <a:solidFill>
            <a:srgbClr val="2A2114"/>
          </a:solidFill>
          <a:ln w="12700">
            <a:solidFill>
              <a:srgbClr val="2A211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75120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</a:rPr>
              <a:t>Ours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14884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 discharge model for lane-less mixed traffic, built from physical width and headway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Signal pressure measured in people per second of green, not vehicles or PCU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Two widely used evaluation metrics shown to be gameable — with the demonstration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8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14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E8A33D"/>
                </a:solidFill>
              </a:rPr>
              <a:t>Signal theory assumes lane discipline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749040"/>
            <a:ext cx="1088136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Two-wheelers filter into lateral gaps and cross two or three abreast where one car fits. What limits the stop line is lateral space — not a factor calibrated for moving traffic.</a:t>
            </a:r>
            <a:endParaRPr lang="en-US" sz="17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14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conventional factor is 56% too high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463040"/>
          <a:ext cx="66751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finding card"/>
          <p:cNvSpPr/>
          <p:nvPr/>
        </p:nvSpPr>
        <p:spPr>
          <a:xfrm>
            <a:off x="7589520" y="1463040"/>
            <a:ext cx="3931920" cy="3931920"/>
          </a:xfrm>
          <a:prstGeom prst="roundRect">
            <a:avLst>
              <a:gd name="adj" fmla="val 465"/>
            </a:avLst>
          </a:prstGeom>
          <a:solidFill>
            <a:srgbClr val="E4E0D8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863840" y="17373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8503F"/>
                </a:solidFill>
              </a:rPr>
              <a:t>56%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7863840" y="2560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too high for a two-wheeler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306324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Static PCU measures space in moving traffic. A junction asks a different question: how long does this queue take to clear?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Our model reproduces the textbook figure for cars exactly — 1800 veh/h/lane — so it departs from convention only where lane discipline does.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8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14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That error becomes wasted green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463040"/>
          <a:ext cx="69494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863840" y="1554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Indian urban arterials run at about 45%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7863840" y="219456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At that mix a conventional controller holds the approach green 21.5% longer than the traffic needs. Those seconds are taken from the cross street while the road it was given to stands empty.</a:t>
            </a:r>
            <a:endParaRPr lang="en-US" sz="1400" dirty="0"/>
          </a:p>
        </p:txBody>
      </p:sp>
      <p:sp>
        <p:nvSpPr>
          <p:cNvPr id="6" name="robustness card"/>
          <p:cNvSpPr/>
          <p:nvPr/>
        </p:nvSpPr>
        <p:spPr>
          <a:xfrm>
            <a:off x="7863840" y="3749040"/>
            <a:ext cx="3657600" cy="1600200"/>
          </a:xfrm>
          <a:prstGeom prst="roundRect">
            <a:avLst>
              <a:gd name="adj" fmla="val 1143"/>
            </a:avLst>
          </a:prstGeom>
          <a:solidFill>
            <a:srgbClr val="E4E0D8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92440" y="3931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Robust to our own assumptions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425196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Swept across the full plausible range of widths and headways, the error stays between +4.6% and +34.7%. It survives us being wrong.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8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14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It did nothing. Three times.</a:t>
            </a:r>
            <a:endParaRPr lang="en-US" sz="3600" dirty="0"/>
          </a:p>
        </p:txBody>
      </p:sp>
      <p:sp>
        <p:nvSpPr>
          <p:cNvPr id="3" name="attempt 1"/>
          <p:cNvSpPr/>
          <p:nvPr/>
        </p:nvSpPr>
        <p:spPr>
          <a:xfrm>
            <a:off x="640080" y="1463040"/>
            <a:ext cx="10881360" cy="960120"/>
          </a:xfrm>
          <a:prstGeom prst="roundRect">
            <a:avLst>
              <a:gd name="adj" fmla="val 1905"/>
            </a:avLst>
          </a:prstGeom>
          <a:solidFill>
            <a:srgbClr val="21222A"/>
          </a:solidFill>
          <a:ln w="12700">
            <a:solidFill>
              <a:srgbClr val="21222A"/>
            </a:solidFill>
            <a:prstDash val="solid"/>
          </a:ln>
        </p:spPr>
      </p:sp>
      <p:sp>
        <p:nvSpPr>
          <p:cNvPr id="4" name="badge 1"/>
          <p:cNvSpPr/>
          <p:nvPr/>
        </p:nvSpPr>
        <p:spPr>
          <a:xfrm>
            <a:off x="914400" y="1700784"/>
            <a:ext cx="475488" cy="475488"/>
          </a:xfrm>
          <a:prstGeom prst="ellipse">
            <a:avLst/>
          </a:prstGeom>
          <a:solidFill>
            <a:srgbClr val="C8503F"/>
          </a:solidFill>
          <a:ln w="12700">
            <a:solidFill>
              <a:srgbClr val="C850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737360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61A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6184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Corrected the measure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709160" y="1618488"/>
            <a:ext cx="6537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87F"/>
                </a:solidFill>
              </a:rPr>
              <a:t>No effect. The bias applied equally to both roads, so it cancelled.</a:t>
            </a:r>
            <a:endParaRPr lang="en-US" sz="1300" dirty="0"/>
          </a:p>
        </p:txBody>
      </p:sp>
      <p:sp>
        <p:nvSpPr>
          <p:cNvPr id="8" name="attempt 2"/>
          <p:cNvSpPr/>
          <p:nvPr/>
        </p:nvSpPr>
        <p:spPr>
          <a:xfrm>
            <a:off x="640080" y="2578608"/>
            <a:ext cx="10881360" cy="960120"/>
          </a:xfrm>
          <a:prstGeom prst="roundRect">
            <a:avLst>
              <a:gd name="adj" fmla="val 1905"/>
            </a:avLst>
          </a:prstGeom>
          <a:solidFill>
            <a:srgbClr val="21222A"/>
          </a:solidFill>
          <a:ln w="12700">
            <a:solidFill>
              <a:srgbClr val="21222A"/>
            </a:solidFill>
            <a:prstDash val="solid"/>
          </a:ln>
        </p:spPr>
      </p:sp>
      <p:sp>
        <p:nvSpPr>
          <p:cNvPr id="9" name="badge 2"/>
          <p:cNvSpPr/>
          <p:nvPr/>
        </p:nvSpPr>
        <p:spPr>
          <a:xfrm>
            <a:off x="914400" y="2816352"/>
            <a:ext cx="475488" cy="475488"/>
          </a:xfrm>
          <a:prstGeom prst="ellipse">
            <a:avLst/>
          </a:prstGeom>
          <a:solidFill>
            <a:srgbClr val="C8503F"/>
          </a:solidFill>
          <a:ln w="12700">
            <a:solidFill>
              <a:srgbClr val="C8503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2852928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61A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273405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Made the two roads differ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2734056"/>
            <a:ext cx="6537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87F"/>
                </a:solidFill>
              </a:rPr>
              <a:t>Still almost nothing. Only blocked arrivals moved, barely.</a:t>
            </a:r>
            <a:endParaRPr lang="en-US" sz="1300" dirty="0"/>
          </a:p>
        </p:txBody>
      </p:sp>
      <p:sp>
        <p:nvSpPr>
          <p:cNvPr id="13" name="attempt 3"/>
          <p:cNvSpPr/>
          <p:nvPr/>
        </p:nvSpPr>
        <p:spPr>
          <a:xfrm>
            <a:off x="640080" y="3694176"/>
            <a:ext cx="10881360" cy="960120"/>
          </a:xfrm>
          <a:prstGeom prst="roundRect">
            <a:avLst>
              <a:gd name="adj" fmla="val 1905"/>
            </a:avLst>
          </a:prstGeom>
          <a:solidFill>
            <a:srgbClr val="21222A"/>
          </a:solidFill>
          <a:ln w="12700">
            <a:solidFill>
              <a:srgbClr val="21222A"/>
            </a:solidFill>
            <a:prstDash val="solid"/>
          </a:ln>
        </p:spPr>
      </p:sp>
      <p:sp>
        <p:nvSpPr>
          <p:cNvPr id="14" name="badge 3"/>
          <p:cNvSpPr/>
          <p:nvPr/>
        </p:nvSpPr>
        <p:spPr>
          <a:xfrm>
            <a:off x="914400" y="3931920"/>
            <a:ext cx="475488" cy="47548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3968496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61A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384962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Diagnosed it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709160" y="3849624"/>
            <a:ext cx="6537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87F"/>
                </a:solidFill>
              </a:rPr>
              <a:t>Controllers agreed 85% of the time. Green was not scarce, so allocating it badly cost nothing.</a:t>
            </a:r>
            <a:endParaRPr lang="en-US" sz="1300" dirty="0"/>
          </a:p>
        </p:txBody>
      </p:sp>
      <p:sp>
        <p:nvSpPr>
          <p:cNvPr id="18" name="attempt 4"/>
          <p:cNvSpPr/>
          <p:nvPr/>
        </p:nvSpPr>
        <p:spPr>
          <a:xfrm>
            <a:off x="640080" y="4809744"/>
            <a:ext cx="10881360" cy="960120"/>
          </a:xfrm>
          <a:prstGeom prst="roundRect">
            <a:avLst>
              <a:gd name="adj" fmla="val 1905"/>
            </a:avLst>
          </a:prstGeom>
          <a:solidFill>
            <a:srgbClr val="1C2418"/>
          </a:solidFill>
          <a:ln w="12700">
            <a:solidFill>
              <a:srgbClr val="1C2418"/>
            </a:solidFill>
            <a:prstDash val="solid"/>
          </a:ln>
        </p:spPr>
      </p:sp>
      <p:sp>
        <p:nvSpPr>
          <p:cNvPr id="19" name="badge 4"/>
          <p:cNvSpPr/>
          <p:nvPr/>
        </p:nvSpPr>
        <p:spPr>
          <a:xfrm>
            <a:off x="914400" y="5047488"/>
            <a:ext cx="475488" cy="475488"/>
          </a:xfrm>
          <a:prstGeom prst="ellipse">
            <a:avLst/>
          </a:prstGeom>
          <a:solidFill>
            <a:srgbClr val="6AA84F"/>
          </a:solidFill>
          <a:ln w="12700">
            <a:solidFill>
              <a:srgbClr val="6AA8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5084064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61A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49651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Allocated green duration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709160" y="4965192"/>
            <a:ext cx="6537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87F"/>
                </a:solidFill>
              </a:rPr>
              <a:t>It worked. Choosing which road is binary; how long is where a bad measure costs you.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8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14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Scooter feeder meets bus arterial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463040"/>
          <a:ext cx="55778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6492240" y="1463040"/>
          <a:ext cx="50292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40080" y="54406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+1,911 ± 848 more people moved than what is deployed today — and no road left starving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8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14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We found the flaw in our own fix</a:t>
            </a:r>
            <a:endParaRPr lang="en-US" sz="3600" dirty="0"/>
          </a:p>
        </p:txBody>
      </p:sp>
      <p:sp>
        <p:nvSpPr>
          <p:cNvPr id="3" name="problem card"/>
          <p:cNvSpPr/>
          <p:nvPr/>
        </p:nvSpPr>
        <p:spPr>
          <a:xfrm>
            <a:off x="640080" y="1463040"/>
            <a:ext cx="5212080" cy="3931920"/>
          </a:xfrm>
          <a:prstGeom prst="roundRect">
            <a:avLst>
              <a:gd name="adj" fmla="val 465"/>
            </a:avLst>
          </a:prstGeom>
          <a:solidFill>
            <a:srgbClr val="2B1A17"/>
          </a:solidFill>
          <a:ln w="12700">
            <a:solidFill>
              <a:srgbClr val="2B1A1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503F"/>
                </a:solidFill>
              </a:rPr>
              <a:t>The problem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214884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Optimising green-seconds-per-vehicle treats a two-wheeler road as cheap — and therefore low value. It scored badly on exactly the thing being maximised.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The feeder starved: 184 ticks of waiting. In an Indian city those riders are the least able to absorb it.</a:t>
            </a:r>
            <a:endParaRPr lang="en-US" sz="1400" dirty="0"/>
          </a:p>
        </p:txBody>
      </p:sp>
      <p:sp>
        <p:nvSpPr>
          <p:cNvPr id="6" name="fix card"/>
          <p:cNvSpPr/>
          <p:nvPr/>
        </p:nvSpPr>
        <p:spPr>
          <a:xfrm>
            <a:off x="6309360" y="1463040"/>
            <a:ext cx="5212080" cy="3931920"/>
          </a:xfrm>
          <a:prstGeom prst="roundRect">
            <a:avLst>
              <a:gd name="adj" fmla="val 465"/>
            </a:avLst>
          </a:prstGeom>
          <a:solidFill>
            <a:srgbClr val="1C2418"/>
          </a:solidFill>
          <a:ln w="12700">
            <a:solidFill>
              <a:srgbClr val="1C241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2940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AA84F"/>
                </a:solidFill>
              </a:rPr>
              <a:t>The fix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629400" y="214884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We were optimising a proxy. Road efficiency is a constraint, not the goal.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So we score each road by people moved per second of green, with an explicit fairness term on accumulated red time.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Worst-case waiting fell from 184 ticks to 37 — a five-fold cut — while still beating what is deployed today.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8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14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Two standard metrics turned out to be gameable</a:t>
            </a:r>
            <a:endParaRPr lang="en-US" sz="3600" dirty="0"/>
          </a:p>
        </p:txBody>
      </p:sp>
      <p:sp>
        <p:nvSpPr>
          <p:cNvPr id="3" name="trap one"/>
          <p:cNvSpPr/>
          <p:nvPr/>
        </p:nvSpPr>
        <p:spPr>
          <a:xfrm>
            <a:off x="640080" y="1463040"/>
            <a:ext cx="5257800" cy="4023360"/>
          </a:xfrm>
          <a:prstGeom prst="roundRect">
            <a:avLst>
              <a:gd name="adj" fmla="val 455"/>
            </a:avLst>
          </a:prstGeom>
          <a:solidFill>
            <a:srgbClr val="E4E0D8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4" name="signal housing"/>
          <p:cNvSpPr/>
          <p:nvPr/>
        </p:nvSpPr>
        <p:spPr>
          <a:xfrm>
            <a:off x="960120" y="1737360"/>
            <a:ext cx="373075" cy="893826"/>
          </a:xfrm>
          <a:prstGeom prst="roundRect">
            <a:avLst>
              <a:gd name="adj" fmla="val 4902"/>
            </a:avLst>
          </a:prstGeom>
          <a:solidFill>
            <a:srgbClr val="111115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5" name="lamp 0"/>
          <p:cNvSpPr/>
          <p:nvPr/>
        </p:nvSpPr>
        <p:spPr>
          <a:xfrm>
            <a:off x="1045616" y="1799539"/>
            <a:ext cx="202082" cy="202082"/>
          </a:xfrm>
          <a:prstGeom prst="ellipse">
            <a:avLst/>
          </a:prstGeom>
          <a:solidFill>
            <a:srgbClr val="C8503F"/>
          </a:solidFill>
          <a:ln w="12700">
            <a:solidFill>
              <a:srgbClr val="C8503F"/>
            </a:solidFill>
            <a:prstDash val="solid"/>
          </a:ln>
        </p:spPr>
      </p:sp>
      <p:sp>
        <p:nvSpPr>
          <p:cNvPr id="6" name="lamp 1"/>
          <p:cNvSpPr/>
          <p:nvPr/>
        </p:nvSpPr>
        <p:spPr>
          <a:xfrm>
            <a:off x="1045616" y="2056028"/>
            <a:ext cx="202082" cy="202082"/>
          </a:xfrm>
          <a:prstGeom prst="ellipse">
            <a:avLst/>
          </a:prstGeom>
          <a:solidFill>
            <a:srgbClr val="26262C"/>
          </a:solidFill>
          <a:ln w="12700">
            <a:solidFill>
              <a:srgbClr val="2E2E34"/>
            </a:solidFill>
            <a:prstDash val="solid"/>
          </a:ln>
        </p:spPr>
      </p:sp>
      <p:sp>
        <p:nvSpPr>
          <p:cNvPr id="7" name="lamp 2"/>
          <p:cNvSpPr/>
          <p:nvPr/>
        </p:nvSpPr>
        <p:spPr>
          <a:xfrm>
            <a:off x="1045616" y="2312518"/>
            <a:ext cx="202082" cy="202082"/>
          </a:xfrm>
          <a:prstGeom prst="ellipse">
            <a:avLst/>
          </a:prstGeom>
          <a:solidFill>
            <a:srgbClr val="26262C"/>
          </a:solidFill>
          <a:ln w="12700">
            <a:solidFill>
              <a:srgbClr val="2E2E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28800" y="17830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Average queue rewards refusing traffic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743200"/>
            <a:ext cx="4617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road held at red fills up and then turns arrivals away. Those vehicles never enter the network, so they never appear in the statistic.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plain fixed clock "beat" our controller by blocking about 100 more vehicles per run while serving fewer.</a:t>
            </a:r>
            <a:endParaRPr lang="en-US" sz="1400" dirty="0"/>
          </a:p>
        </p:txBody>
      </p:sp>
      <p:sp>
        <p:nvSpPr>
          <p:cNvPr id="10" name="trap two"/>
          <p:cNvSpPr/>
          <p:nvPr/>
        </p:nvSpPr>
        <p:spPr>
          <a:xfrm>
            <a:off x="6263640" y="1463040"/>
            <a:ext cx="5257800" cy="4023360"/>
          </a:xfrm>
          <a:prstGeom prst="roundRect">
            <a:avLst>
              <a:gd name="adj" fmla="val 455"/>
            </a:avLst>
          </a:prstGeom>
          <a:solidFill>
            <a:srgbClr val="E4E0D8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11" name="signal housing"/>
          <p:cNvSpPr/>
          <p:nvPr/>
        </p:nvSpPr>
        <p:spPr>
          <a:xfrm>
            <a:off x="6583680" y="1737360"/>
            <a:ext cx="373075" cy="893826"/>
          </a:xfrm>
          <a:prstGeom prst="roundRect">
            <a:avLst>
              <a:gd name="adj" fmla="val 4902"/>
            </a:avLst>
          </a:prstGeom>
          <a:solidFill>
            <a:srgbClr val="111115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12" name="lamp 0"/>
          <p:cNvSpPr/>
          <p:nvPr/>
        </p:nvSpPr>
        <p:spPr>
          <a:xfrm>
            <a:off x="6669176" y="1799539"/>
            <a:ext cx="202082" cy="202082"/>
          </a:xfrm>
          <a:prstGeom prst="ellipse">
            <a:avLst/>
          </a:prstGeom>
          <a:solidFill>
            <a:srgbClr val="C8503F"/>
          </a:solidFill>
          <a:ln w="12700">
            <a:solidFill>
              <a:srgbClr val="C8503F"/>
            </a:solidFill>
            <a:prstDash val="solid"/>
          </a:ln>
        </p:spPr>
      </p:sp>
      <p:sp>
        <p:nvSpPr>
          <p:cNvPr id="13" name="lamp 1"/>
          <p:cNvSpPr/>
          <p:nvPr/>
        </p:nvSpPr>
        <p:spPr>
          <a:xfrm>
            <a:off x="6669176" y="2056028"/>
            <a:ext cx="202082" cy="202082"/>
          </a:xfrm>
          <a:prstGeom prst="ellipse">
            <a:avLst/>
          </a:prstGeom>
          <a:solidFill>
            <a:srgbClr val="26262C"/>
          </a:solidFill>
          <a:ln w="12700">
            <a:solidFill>
              <a:srgbClr val="2E2E34"/>
            </a:solidFill>
            <a:prstDash val="solid"/>
          </a:ln>
        </p:spPr>
      </p:sp>
      <p:sp>
        <p:nvSpPr>
          <p:cNvPr id="14" name="lamp 2"/>
          <p:cNvSpPr/>
          <p:nvPr/>
        </p:nvSpPr>
        <p:spPr>
          <a:xfrm>
            <a:off x="6669176" y="2312518"/>
            <a:ext cx="202082" cy="202082"/>
          </a:xfrm>
          <a:prstGeom prst="ellipse">
            <a:avLst/>
          </a:prstGeom>
          <a:solidFill>
            <a:srgbClr val="26262C"/>
          </a:solidFill>
          <a:ln w="12700">
            <a:solidFill>
              <a:srgbClr val="2E2E3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52360" y="17830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Mean delay hides starvation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2743200"/>
            <a:ext cx="4617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Our first RL controller posted the lowest mean queue in the benchmark — by learning to keep some approaches permanently red.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Its 95th-percentile delay was 66 ticks against a fixed clock’s 27. Every claim we make now carries p95 and worst-case beside the average.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8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14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Built to be installed, not just benchmarked</a:t>
            </a:r>
            <a:endParaRPr lang="en-US" sz="3600" dirty="0"/>
          </a:p>
        </p:txBody>
      </p:sp>
      <p:sp>
        <p:nvSpPr>
          <p:cNvPr id="3" name="pillar Safety shield"/>
          <p:cNvSpPr/>
          <p:nvPr/>
        </p:nvSpPr>
        <p:spPr>
          <a:xfrm>
            <a:off x="640080" y="1463040"/>
            <a:ext cx="5394960" cy="1828800"/>
          </a:xfrm>
          <a:prstGeom prst="roundRect">
            <a:avLst>
              <a:gd name="adj" fmla="val 1000"/>
            </a:avLst>
          </a:prstGeom>
          <a:solidFill>
            <a:srgbClr val="21222A"/>
          </a:solidFill>
          <a:ln w="12700">
            <a:solidFill>
              <a:srgbClr val="21222A"/>
            </a:solidFill>
            <a:prstDash val="solid"/>
          </a:ln>
        </p:spPr>
      </p:sp>
      <p:sp>
        <p:nvSpPr>
          <p:cNvPr id="4" name="dot 0"/>
          <p:cNvSpPr/>
          <p:nvPr/>
        </p:nvSpPr>
        <p:spPr>
          <a:xfrm>
            <a:off x="914400" y="1737360"/>
            <a:ext cx="384048" cy="384048"/>
          </a:xfrm>
          <a:prstGeom prst="ellipse">
            <a:avLst/>
          </a:prstGeom>
          <a:solidFill>
            <a:srgbClr val="6AA84F"/>
          </a:solidFill>
          <a:ln w="12700">
            <a:solidFill>
              <a:srgbClr val="6AA8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508760" y="170078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Safety shield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402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87F"/>
                </a:solidFill>
              </a:rPr>
              <a:t>Minimum green, starvation limits, a guaranteed maximum pedestrian wait. The optimiser proposes; the shield disposes.</a:t>
            </a:r>
            <a:endParaRPr lang="en-US" sz="1300" dirty="0"/>
          </a:p>
        </p:txBody>
      </p:sp>
      <p:sp>
        <p:nvSpPr>
          <p:cNvPr id="7" name="pillar Fails safe"/>
          <p:cNvSpPr/>
          <p:nvPr/>
        </p:nvSpPr>
        <p:spPr>
          <a:xfrm>
            <a:off x="6309360" y="1463040"/>
            <a:ext cx="5394960" cy="1828800"/>
          </a:xfrm>
          <a:prstGeom prst="roundRect">
            <a:avLst>
              <a:gd name="adj" fmla="val 1000"/>
            </a:avLst>
          </a:prstGeom>
          <a:solidFill>
            <a:srgbClr val="21222A"/>
          </a:solidFill>
          <a:ln w="12700">
            <a:solidFill>
              <a:srgbClr val="21222A"/>
            </a:solidFill>
            <a:prstDash val="solid"/>
          </a:ln>
        </p:spPr>
      </p:sp>
      <p:sp>
        <p:nvSpPr>
          <p:cNvPr id="8" name="dot 1"/>
          <p:cNvSpPr/>
          <p:nvPr/>
        </p:nvSpPr>
        <p:spPr>
          <a:xfrm>
            <a:off x="6583680" y="1737360"/>
            <a:ext cx="384048" cy="3840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78040" y="170078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Fails safe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2402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87F"/>
                </a:solidFill>
              </a:rPr>
              <a:t>Kill a detector, drop comms, fail a signal head — each routes to a documented fallback and the UI says which.</a:t>
            </a:r>
            <a:endParaRPr lang="en-US" sz="1300" dirty="0"/>
          </a:p>
        </p:txBody>
      </p:sp>
      <p:sp>
        <p:nvSpPr>
          <p:cNvPr id="11" name="pillar Explains itself"/>
          <p:cNvSpPr/>
          <p:nvPr/>
        </p:nvSpPr>
        <p:spPr>
          <a:xfrm>
            <a:off x="640080" y="3566160"/>
            <a:ext cx="5394960" cy="1828800"/>
          </a:xfrm>
          <a:prstGeom prst="roundRect">
            <a:avLst>
              <a:gd name="adj" fmla="val 1000"/>
            </a:avLst>
          </a:prstGeom>
          <a:solidFill>
            <a:srgbClr val="21222A"/>
          </a:solidFill>
          <a:ln w="12700">
            <a:solidFill>
              <a:srgbClr val="21222A"/>
            </a:solidFill>
            <a:prstDash val="solid"/>
          </a:ln>
        </p:spPr>
      </p:sp>
      <p:sp>
        <p:nvSpPr>
          <p:cNvPr id="12" name="dot 2"/>
          <p:cNvSpPr/>
          <p:nvPr/>
        </p:nvSpPr>
        <p:spPr>
          <a:xfrm>
            <a:off x="914400" y="3840480"/>
            <a:ext cx="384048" cy="384048"/>
          </a:xfrm>
          <a:prstGeom prst="ellipse">
            <a:avLst/>
          </a:prstGeom>
          <a:solidFill>
            <a:srgbClr val="A8A398"/>
          </a:solidFill>
          <a:ln w="12700">
            <a:solidFill>
              <a:srgbClr val="A8A39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380390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Explains itself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3434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87F"/>
                </a:solidFill>
              </a:rPr>
              <a:t>Every phase change is logged with the pressures behind it and the constraint that overrode the optimiser.</a:t>
            </a:r>
            <a:endParaRPr lang="en-US" sz="1300" dirty="0"/>
          </a:p>
        </p:txBody>
      </p:sp>
      <p:sp>
        <p:nvSpPr>
          <p:cNvPr id="15" name="pillar Speaks in city units"/>
          <p:cNvSpPr/>
          <p:nvPr/>
        </p:nvSpPr>
        <p:spPr>
          <a:xfrm>
            <a:off x="6309360" y="3566160"/>
            <a:ext cx="5394960" cy="1828800"/>
          </a:xfrm>
          <a:prstGeom prst="roundRect">
            <a:avLst>
              <a:gd name="adj" fmla="val 1000"/>
            </a:avLst>
          </a:prstGeom>
          <a:solidFill>
            <a:srgbClr val="21222A"/>
          </a:solidFill>
          <a:ln w="12700">
            <a:solidFill>
              <a:srgbClr val="21222A"/>
            </a:solidFill>
            <a:prstDash val="solid"/>
          </a:ln>
        </p:spPr>
      </p:sp>
      <p:sp>
        <p:nvSpPr>
          <p:cNvPr id="16" name="dot 3"/>
          <p:cNvSpPr/>
          <p:nvPr/>
        </p:nvSpPr>
        <p:spPr>
          <a:xfrm>
            <a:off x="6583680" y="3840480"/>
            <a:ext cx="384048" cy="384048"/>
          </a:xfrm>
          <a:prstGeom prst="ellipse">
            <a:avLst/>
          </a:prstGeom>
          <a:solidFill>
            <a:srgbClr val="B0883C"/>
          </a:solidFill>
          <a:ln w="12700">
            <a:solidFill>
              <a:srgbClr val="B088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78040" y="380390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Speaks in city units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43434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87F"/>
                </a:solidFill>
              </a:rPr>
              <a:t>Idle fuel, CO₂ and rupees per year, with every assumption listed and challengeable.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8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14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Every number in this deck re-runs on demand</a:t>
            </a:r>
            <a:endParaRPr lang="en-US" sz="3600" dirty="0"/>
          </a:p>
        </p:txBody>
      </p:sp>
      <p:sp>
        <p:nvSpPr>
          <p:cNvPr id="3" name="command card"/>
          <p:cNvSpPr/>
          <p:nvPr/>
        </p:nvSpPr>
        <p:spPr>
          <a:xfrm>
            <a:off x="640080" y="1463040"/>
            <a:ext cx="10881360" cy="1371600"/>
          </a:xfrm>
          <a:prstGeom prst="roundRect">
            <a:avLst>
              <a:gd name="adj" fmla="val 1333"/>
            </a:avLst>
          </a:prstGeom>
          <a:solidFill>
            <a:srgbClr val="16161A"/>
          </a:solidFill>
          <a:ln w="12700">
            <a:solidFill>
              <a:srgbClr val="1616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691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AA8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scripts/reproduce_results.py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194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887F"/>
                </a:solidFill>
              </a:rPr>
              <a:t>Re-measures every documented claim and exits non-zero if one has stopped being true.</a:t>
            </a:r>
            <a:endParaRPr lang="en-US" sz="1400" dirty="0"/>
          </a:p>
        </p:txBody>
      </p:sp>
      <p:sp>
        <p:nvSpPr>
          <p:cNvPr id="6" name="stat claims reproduced"/>
          <p:cNvSpPr txBox="1"/>
          <p:nvPr/>
        </p:nvSpPr>
        <p:spPr>
          <a:xfrm>
            <a:off x="640080" y="310896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6AA84F"/>
                </a:solidFill>
              </a:rPr>
              <a:t>10/10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886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claims reproduced</a:t>
            </a:r>
            <a:endParaRPr lang="en-US" sz="1300" dirty="0"/>
          </a:p>
        </p:txBody>
      </p:sp>
      <p:sp>
        <p:nvSpPr>
          <p:cNvPr id="8" name="stat automated tests"/>
          <p:cNvSpPr txBox="1"/>
          <p:nvPr/>
        </p:nvSpPr>
        <p:spPr>
          <a:xfrm>
            <a:off x="4389120" y="310896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119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3886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automated tests</a:t>
            </a:r>
            <a:endParaRPr lang="en-US" sz="1300" dirty="0"/>
          </a:p>
        </p:txBody>
      </p:sp>
      <p:sp>
        <p:nvSpPr>
          <p:cNvPr id="10" name="stat fails on drift"/>
          <p:cNvSpPr txBox="1"/>
          <p:nvPr/>
        </p:nvSpPr>
        <p:spPr>
          <a:xfrm>
            <a:off x="8138160" y="310896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A33D"/>
                </a:solidFill>
              </a:rPr>
              <a:t>CI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3886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fails on drift</a:t>
            </a:r>
            <a:endParaRPr lang="en-US" sz="1300" dirty="0"/>
          </a:p>
        </p:txBody>
      </p:sp>
      <p:sp>
        <p:nvSpPr>
          <p:cNvPr id="12" name="negatives card"/>
          <p:cNvSpPr/>
          <p:nvPr/>
        </p:nvSpPr>
        <p:spPr>
          <a:xfrm>
            <a:off x="640080" y="4709160"/>
            <a:ext cx="10881360" cy="1371600"/>
          </a:xfrm>
          <a:prstGeom prst="roundRect">
            <a:avLst>
              <a:gd name="adj" fmla="val 1333"/>
            </a:avLst>
          </a:prstGeom>
          <a:solidFill>
            <a:srgbClr val="E4E0D8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486460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It verifies the results that went against us, too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52578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The claim that our correction changes nothing when both roads carry the same traffic must keep coming back with a confidence interval spanning zero. If a future change makes that pass for the wrong reason, the build goes red.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8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14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What we are not claiming</a:t>
            </a:r>
            <a:endParaRPr lang="en-US" sz="3600" dirty="0"/>
          </a:p>
        </p:txBody>
      </p:sp>
      <p:sp>
        <p:nvSpPr>
          <p:cNvPr id="3" name="limit 0"/>
          <p:cNvSpPr/>
          <p:nvPr/>
        </p:nvSpPr>
        <p:spPr>
          <a:xfrm>
            <a:off x="640080" y="1417320"/>
            <a:ext cx="10881360" cy="1005840"/>
          </a:xfrm>
          <a:prstGeom prst="roundRect">
            <a:avLst>
              <a:gd name="adj" fmla="val 1818"/>
            </a:avLst>
          </a:prstGeom>
          <a:solidFill>
            <a:srgbClr val="21222A"/>
          </a:solidFill>
          <a:ln w="12700">
            <a:solidFill>
              <a:srgbClr val="2122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545336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</a:rPr>
              <a:t>Parameters are estimates, not measurements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577840" y="1545336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87F"/>
                </a:solidFill>
              </a:rPr>
              <a:t>Lateral widths and headways are centre estimates. Calibrating them needs stop-line video from a real junction, which we have not done.</a:t>
            </a:r>
            <a:endParaRPr lang="en-US" sz="1300" dirty="0"/>
          </a:p>
        </p:txBody>
      </p:sp>
      <p:sp>
        <p:nvSpPr>
          <p:cNvPr id="6" name="limit 1"/>
          <p:cNvSpPr/>
          <p:nvPr/>
        </p:nvSpPr>
        <p:spPr>
          <a:xfrm>
            <a:off x="640080" y="2578608"/>
            <a:ext cx="10881360" cy="1005840"/>
          </a:xfrm>
          <a:prstGeom prst="roundRect">
            <a:avLst>
              <a:gd name="adj" fmla="val 1818"/>
            </a:avLst>
          </a:prstGeom>
          <a:solidFill>
            <a:srgbClr val="21222A"/>
          </a:solidFill>
          <a:ln w="12700">
            <a:solidFill>
              <a:srgbClr val="2122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706624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</a:rPr>
              <a:t>It trades vehicles for people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2706624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87F"/>
                </a:solidFill>
              </a:rPr>
              <a:t>About 1,800 fewer vehicles move while 1,900 more people do. Whether a city wants that is a policy decision, not a technical result.</a:t>
            </a:r>
            <a:endParaRPr lang="en-US" sz="1300" dirty="0"/>
          </a:p>
        </p:txBody>
      </p:sp>
      <p:sp>
        <p:nvSpPr>
          <p:cNvPr id="9" name="limit 2"/>
          <p:cNvSpPr/>
          <p:nvPr/>
        </p:nvSpPr>
        <p:spPr>
          <a:xfrm>
            <a:off x="640080" y="3739896"/>
            <a:ext cx="10881360" cy="1005840"/>
          </a:xfrm>
          <a:prstGeom prst="roundRect">
            <a:avLst>
              <a:gd name="adj" fmla="val 1818"/>
            </a:avLst>
          </a:prstGeom>
          <a:solidFill>
            <a:srgbClr val="21222A"/>
          </a:solidFill>
          <a:ln w="12700">
            <a:solidFill>
              <a:srgbClr val="2122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3867912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</a:rPr>
              <a:t>It loses where traffic is uniform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577840" y="3867912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87F"/>
                </a:solidFill>
              </a:rPr>
              <a:t>With every road carrying the same mix it is measurably behind the conventional controller. It pays only when roads differ and green is scarce.</a:t>
            </a:r>
            <a:endParaRPr lang="en-US" sz="1300" dirty="0"/>
          </a:p>
        </p:txBody>
      </p:sp>
      <p:sp>
        <p:nvSpPr>
          <p:cNvPr id="12" name="limit 3"/>
          <p:cNvSpPr/>
          <p:nvPr/>
        </p:nvSpPr>
        <p:spPr>
          <a:xfrm>
            <a:off x="640080" y="4901184"/>
            <a:ext cx="10881360" cy="1005840"/>
          </a:xfrm>
          <a:prstGeom prst="roundRect">
            <a:avLst>
              <a:gd name="adj" fmla="val 1818"/>
            </a:avLst>
          </a:prstGeom>
          <a:solidFill>
            <a:srgbClr val="21222A"/>
          </a:solidFill>
          <a:ln w="12700">
            <a:solidFill>
              <a:srgbClr val="2122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502920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</a:rPr>
              <a:t>The engine is not a traffic simulator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577840" y="5029200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87F"/>
                </a:solidFill>
              </a:rPr>
              <a:t>Final performance claims must be regenerated in SUMO with a heterogeneous vehicle set.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8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14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286000"/>
            <a:ext cx="10881360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Measure the right thing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749040"/>
            <a:ext cx="10881360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700" dirty="0">
                <a:solidFill>
                  <a:srgbClr val="8C887F"/>
                </a:solidFill>
              </a:rPr>
              <a:t>Control theory imported from the West assumes lane discipline. We modelled lane-less traffic from physics, showed the standard method mis-allocates green by 21%, and fixed the equity problem that correction created.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E8A33D"/>
                </a:solidFill>
              </a:rPr>
              <a:t>Every figure re-runs with one command — including the ones that went against us.</a:t>
            </a:r>
            <a:endParaRPr lang="en-US" sz="1700" dirty="0"/>
          </a:p>
        </p:txBody>
      </p:sp>
      <p:sp>
        <p:nvSpPr>
          <p:cNvPr id="4" name="signal housing"/>
          <p:cNvSpPr/>
          <p:nvPr/>
        </p:nvSpPr>
        <p:spPr>
          <a:xfrm>
            <a:off x="10149840" y="2103120"/>
            <a:ext cx="702259" cy="1682496"/>
          </a:xfrm>
          <a:prstGeom prst="roundRect">
            <a:avLst>
              <a:gd name="adj" fmla="val 2604"/>
            </a:avLst>
          </a:prstGeom>
          <a:solidFill>
            <a:srgbClr val="111115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5" name="lamp 0"/>
          <p:cNvSpPr/>
          <p:nvPr/>
        </p:nvSpPr>
        <p:spPr>
          <a:xfrm>
            <a:off x="10310774" y="2220163"/>
            <a:ext cx="380390" cy="380390"/>
          </a:xfrm>
          <a:prstGeom prst="ellipse">
            <a:avLst/>
          </a:prstGeom>
          <a:solidFill>
            <a:srgbClr val="26262C"/>
          </a:solidFill>
          <a:ln w="12700">
            <a:solidFill>
              <a:srgbClr val="2E2E34"/>
            </a:solidFill>
            <a:prstDash val="solid"/>
          </a:ln>
        </p:spPr>
      </p:sp>
      <p:sp>
        <p:nvSpPr>
          <p:cNvPr id="6" name="lamp 1"/>
          <p:cNvSpPr/>
          <p:nvPr/>
        </p:nvSpPr>
        <p:spPr>
          <a:xfrm>
            <a:off x="10310774" y="2702966"/>
            <a:ext cx="380390" cy="380390"/>
          </a:xfrm>
          <a:prstGeom prst="ellipse">
            <a:avLst/>
          </a:prstGeom>
          <a:solidFill>
            <a:srgbClr val="26262C"/>
          </a:solidFill>
          <a:ln w="12700">
            <a:solidFill>
              <a:srgbClr val="2E2E34"/>
            </a:solidFill>
            <a:prstDash val="solid"/>
          </a:ln>
        </p:spPr>
      </p:sp>
      <p:sp>
        <p:nvSpPr>
          <p:cNvPr id="7" name="lamp 2"/>
          <p:cNvSpPr/>
          <p:nvPr/>
        </p:nvSpPr>
        <p:spPr>
          <a:xfrm>
            <a:off x="10310774" y="3185770"/>
            <a:ext cx="380390" cy="380390"/>
          </a:xfrm>
          <a:prstGeom prst="ellipse">
            <a:avLst/>
          </a:prstGeom>
          <a:solidFill>
            <a:srgbClr val="6AA84F"/>
          </a:solidFill>
          <a:ln w="12700">
            <a:solidFill>
              <a:srgbClr val="6AA84F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14:push dir="u"/>
      </p:transition>
    </mc:Choice>
    <mc:Fallback>
      <p:transition spd="slow">
        <p:push dir="u"/>
      </p:transition>
    </mc:Fallback>
  </mc:AlternateContent>
</p:sld>
</file>

<file path=ppt/theme/theme1.xml><?xml version="1.0" encoding="utf-8"?>
<a:theme xmlns:a="http://schemas.openxmlformats.org/drawingml/2006/main" name="SmartTraffic Signal">
  <a:themeElements>
    <a:clrScheme name="SmartTraffic Signal">
      <a:dk1>
        <a:srgbClr val="16161A"/>
      </a:dk1>
      <a:lt1>
        <a:srgbClr val="F2EFE9"/>
      </a:lt1>
      <a:dk2>
        <a:srgbClr val="21222A"/>
      </a:dk2>
      <a:lt2>
        <a:srgbClr val="E4E0D8"/>
      </a:lt2>
      <a:accent1>
        <a:srgbClr val="E8A33D"/>
      </a:accent1>
      <a:accent2>
        <a:srgbClr val="6AA84F"/>
      </a:accent2>
      <a:accent3>
        <a:srgbClr val="C8503F"/>
      </a:accent3>
      <a:accent4>
        <a:srgbClr val="A8A398"/>
      </a:accent4>
      <a:accent5>
        <a:srgbClr val="8C887F"/>
      </a:accent5>
      <a:accent6>
        <a:srgbClr val="B0883C"/>
      </a:accent6>
      <a:hlink>
        <a:srgbClr val="E8A33D"/>
      </a:hlink>
      <a:folHlink>
        <a:srgbClr val="8C887F"/>
      </a:folHlink>
    </a:clrScheme>
    <a:fontScheme name="SmartTraffic Sign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SmartTraffic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SmartTraffic — adaptive signal control for lane-less traffic</dc:title>
  <dc:subject>PptxGenJS Presentation</dc:subject>
  <dc:creator>Rishab CV, Martin Wills</dc:creator>
  <cp:lastModifiedBy>Rishab CV, Martin Wills</cp:lastModifiedBy>
  <cp:revision>1</cp:revision>
  <dcterms:created xsi:type="dcterms:W3CDTF">2026-10-08T17:43:58Z</dcterms:created>
  <dcterms:modified xsi:type="dcterms:W3CDTF">2026-10-08T17:43:58Z</dcterms:modified>
</cp:coreProperties>
</file>