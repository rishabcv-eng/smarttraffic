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febcd74-524f-6396-9539-e40c5d671903}">
          <p14:sldIdLst>
            <p14:sldId id="256"/>
          </p14:sldIdLst>
        </p14:section>
        <p14:section name="Problem" id="{fee4edc1-b398-0bdc-11d7-40b6a4872000}">
          <p14:sldIdLst>
            <p14:sldId id="257"/>
            <p14:sldId id="258"/>
          </p14:sldIdLst>
        </p14:section>
        <p14:section name="The novelty" id="{85cd96a4-12ed-b081-8bf1-19460b3472d6}">
          <p14:sldIdLst>
            <p14:sldId id="259"/>
            <p14:sldId id="260"/>
            <p14:sldId id="261"/>
          </p14:sldIdLst>
        </p14:section>
        <p14:section name="Method" id="{0de0e620-3d2b-2d43-565c-e1fc5f93dc22}">
          <p14:sldIdLst>
            <p14:sldId id="262"/>
          </p14:sldIdLst>
        </p14:section>
        <p14:section name="Results" id="{3a554d44-13b8-11b4-4dbf-9d664a4253a3}">
          <p14:sldIdLst>
            <p14:sldId id="263"/>
            <p14:sldId id="264"/>
            <p14:sldId id="265"/>
          </p14:sldIdLst>
        </p14:section>
        <p14:section name="Deployability" id="{8be75b16-9f1e-9151-ed35-a6373165834c}">
          <p14:sldIdLst>
            <p14:sldId id="266"/>
            <p14:sldId id="267"/>
            <p14:sldId id="268"/>
          </p14:sldIdLst>
        </p14:section>
        <p14:section name="Close" id="{e218f768-fa71-f4ac-cf89-bd16e8c1b42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Two-wheeler share of the queue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allocated beyond need</c:v>
                </c:pt>
              </c:strCache>
            </c:strRef>
          </c:tx>
          <c:spPr>
            <a:solidFill>
              <a:srgbClr val="C8503F"/>
            </a:solidFill>
            <a:ln w="50800" cap="flat">
              <a:solidFill>
                <a:srgbClr val="C8503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503F"/>
              </a:solidFill>
              <a:ln w="9525" cap="flat">
                <a:solidFill>
                  <a:srgbClr val="C8503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15%</c:v>
                  </c:pt>
                  <c:pt idx="2">
                    <c:v>30%</c:v>
                  </c:pt>
                  <c:pt idx="3">
                    <c:v>45%</c:v>
                  </c:pt>
                  <c:pt idx="4">
                    <c:v>60%</c:v>
                  </c:pt>
                  <c:pt idx="5">
                    <c:v>75%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9.3</c:v>
                </c:pt>
                <c:pt idx="2">
                  <c:v>14.5</c:v>
                </c:pt>
                <c:pt idx="3">
                  <c:v>21.5</c:v>
                </c:pt>
                <c:pt idx="4">
                  <c:v>29.1</c:v>
                </c:pt>
                <c:pt idx="5">
                  <c:v>39.5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7534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7534B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8C88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7534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88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AA8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7534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6D1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8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an adaptive traffic signal controller, and the part that is genuinely new is that it is designed for traffic without lane discipline. Everything I show you can be re-run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why signals matter, and plant the assumption that the whole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early. Judges respect a team that knows which parts of its own project are textbook. It buys credibility for the part that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whole deck.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 column being identical is the important detail. It shows we have not just invented numbers that suit us — where the old assumption holds, we agree with it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"how do you know your parameters are right" — point at the sweep. We do not need them to be exactly right for the conclusion to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deliberately about failure. The third attempt is the one to dwell on: we found our own fix had raised capacity so much that nothing was scarce. That diagnosis is the actual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 on the right. That is our own first attempt, and it is unusable: it leaves one road red for minutes. Showing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remember this one. A team that finds the equity problem in its own result, and says so before being asked, is a team worth trusting.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findings about how the field evaluates itself, not just about our code. Both were caught by our own benchmark, which is the argument for building one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 — 30 seconds. It is table stakes,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demo. Offer to run it live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how the rest of the deck is heard. It is also the honest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one-sentence version. Then offer the live demo: the Mixed fleet tab runs the whole study in front of them,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8C887F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21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E8A33D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F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SmartTraffic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8C887F"/>
                </a:solidFill>
              </a:rPr>
              <a:t>Adaptive signal control built for lane-less Indian traffic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</a:rPr>
              <a:t>Design of Smart Cities   ·   15 controllers   ·   119 tests   ·   every claim reproducible</a:t>
            </a:r>
            <a:endParaRPr lang="en-US" sz="1700" dirty="0"/>
          </a:p>
        </p:txBody>
      </p:sp>
      <p:sp>
        <p:nvSpPr>
          <p:cNvPr id="4" name="team card"/>
          <p:cNvSpPr/>
          <p:nvPr/>
        </p:nvSpPr>
        <p:spPr>
          <a:xfrm>
            <a:off x="640080" y="5257800"/>
            <a:ext cx="6035040" cy="1051560"/>
          </a:xfrm>
          <a:prstGeom prst="roundRect">
            <a:avLst>
              <a:gd name="adj" fmla="val 1739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500" dirty="0">
                <a:solidFill>
                  <a:srgbClr val="E8A33D"/>
                </a:solidFill>
              </a:rPr>
              <a:t>   24BCE5296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5788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500" dirty="0">
                <a:solidFill>
                  <a:srgbClr val="E8A33D"/>
                </a:solidFill>
              </a:rPr>
              <a:t>   24BCE5255</a:t>
            </a:r>
            <a:endParaRPr lang="en-US" sz="15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Chennai loses 132 hours per commuter, per year</a:t>
            </a:r>
            <a:endParaRPr lang="en-US" sz="3600" dirty="0"/>
          </a:p>
        </p:txBody>
      </p:sp>
      <p:sp>
        <p:nvSpPr>
          <p:cNvPr id="3" name="stat to travel 10 km"/>
          <p:cNvSpPr txBox="1"/>
          <p:nvPr/>
        </p:nvSpPr>
        <p:spPr>
          <a:xfrm>
            <a:off x="64008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503F"/>
                </a:solidFill>
              </a:rPr>
              <a:t>31:15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 travel 10 km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887F"/>
                </a:solidFill>
              </a:rPr>
              <a:t>TomTom Traffic Index 2025</a:t>
            </a:r>
            <a:endParaRPr lang="en-US" sz="1000" dirty="0"/>
          </a:p>
        </p:txBody>
      </p:sp>
      <p:sp>
        <p:nvSpPr>
          <p:cNvPr id="6" name="stat evening congestion"/>
          <p:cNvSpPr txBox="1"/>
          <p:nvPr/>
        </p:nvSpPr>
        <p:spPr>
          <a:xfrm>
            <a:off x="42062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503F"/>
                </a:solidFill>
              </a:rPr>
              <a:t>100.9%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evening congestion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887F"/>
                </a:solidFill>
              </a:rPr>
              <a:t>a trip takes twice free-flow</a:t>
            </a:r>
            <a:endParaRPr lang="en-US" sz="1000" dirty="0"/>
          </a:p>
        </p:txBody>
      </p:sp>
      <p:sp>
        <p:nvSpPr>
          <p:cNvPr id="9" name="stat peak speed"/>
          <p:cNvSpPr txBox="1"/>
          <p:nvPr/>
        </p:nvSpPr>
        <p:spPr>
          <a:xfrm>
            <a:off x="777240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503F"/>
                </a:solidFill>
              </a:rPr>
              <a:t>16 km/h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peak speed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887F"/>
                </a:solidFill>
              </a:rPr>
              <a:t>slower than a bicycle downhill</a:t>
            </a:r>
            <a:endParaRPr lang="en-US" sz="1000" dirty="0"/>
          </a:p>
        </p:txBody>
      </p:sp>
      <p:sp>
        <p:nvSpPr>
          <p:cNvPr id="12" name="problem card"/>
          <p:cNvSpPr/>
          <p:nvPr/>
        </p:nvSpPr>
        <p:spPr>
          <a:xfrm>
            <a:off x="640080" y="3566160"/>
            <a:ext cx="10881360" cy="1783080"/>
          </a:xfrm>
          <a:prstGeom prst="roundRect">
            <a:avLst>
              <a:gd name="adj" fmla="val 1026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Signals are the cheapest lever a city has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New roads take years and land nobody has. Retiming the signals on a corridor is software. The catch is that the control theory every adaptive system is built on was written for traffic that queues in lanes — and Indian traffic does not.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is standard, and what is ours</a:t>
            </a:r>
            <a:endParaRPr lang="en-US" sz="3600" dirty="0"/>
          </a:p>
        </p:txBody>
      </p:sp>
      <p:sp>
        <p:nvSpPr>
          <p:cNvPr id="3" name="standard card"/>
          <p:cNvSpPr/>
          <p:nvPr/>
        </p:nvSpPr>
        <p:spPr>
          <a:xfrm>
            <a:off x="640080" y="1417320"/>
            <a:ext cx="5303520" cy="4206240"/>
          </a:xfrm>
          <a:prstGeom prst="roundRect">
            <a:avLst>
              <a:gd name="adj" fmla="val 435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887F"/>
                </a:solidFill>
              </a:rPr>
              <a:t>Established work — implemented, not claimed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Max-pressure control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Green-wave coordination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Emergency vehicle preemption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Transit signal priority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Reinforcement learning for signals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YOLO vehicle counting</a:t>
            </a:r>
            <a:endParaRPr lang="en-US" sz="1500" dirty="0"/>
          </a:p>
        </p:txBody>
      </p:sp>
      <p:sp>
        <p:nvSpPr>
          <p:cNvPr id="6" name="ours card"/>
          <p:cNvSpPr/>
          <p:nvPr/>
        </p:nvSpPr>
        <p:spPr>
          <a:xfrm>
            <a:off x="6217920" y="1417320"/>
            <a:ext cx="5303520" cy="4206240"/>
          </a:xfrm>
          <a:prstGeom prst="roundRect">
            <a:avLst>
              <a:gd name="adj" fmla="val 435"/>
            </a:avLst>
          </a:prstGeom>
          <a:solidFill>
            <a:srgbClr val="2A2114"/>
          </a:solidFill>
          <a:ln w="12700">
            <a:solidFill>
              <a:srgbClr val="2A21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</a:rPr>
              <a:t>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discharge model for lane-less mixed traffic, built from physical width and headway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Signal pressure measured in people per second of green, not vehicles or PCU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Two widely used evaluation metrics shown to be gameable — with the demonstration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A33D"/>
                </a:solidFill>
              </a:rPr>
              <a:t>Signal theory assumes lane discipline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46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503F"/>
                </a:solidFill>
              </a:rPr>
              <a:t>56%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too high for a two-wheeler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0632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Static PCU measures space in moving traffic. A junction asks a different question: how long does this queue take to clear?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 — 1800 veh/h/lane —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That error becomes wasted green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Indian urban arterials run at about 45%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945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 that mix a conventional controller holds the approach green 21.5% longer than the traffic needs. Those seconds are taken from the cross street while the road it was given to stands empty.</a:t>
            </a:r>
            <a:endParaRPr lang="en-US" sz="1400" dirty="0"/>
          </a:p>
        </p:txBody>
      </p:sp>
      <p:sp>
        <p:nvSpPr>
          <p:cNvPr id="6" name="robustness card"/>
          <p:cNvSpPr/>
          <p:nvPr/>
        </p:nvSpPr>
        <p:spPr>
          <a:xfrm>
            <a:off x="7863840" y="3749040"/>
            <a:ext cx="3657600" cy="1600200"/>
          </a:xfrm>
          <a:prstGeom prst="roundRect">
            <a:avLst>
              <a:gd name="adj" fmla="val 1143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Robust to our own assumptions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42519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Swept across the full plausible range of widths and headways, the error stays between +4.6% and +34.7%. It survives us being wrong.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It did nothing. Three times.</a:t>
            </a:r>
            <a:endParaRPr lang="en-US" sz="3600" dirty="0"/>
          </a:p>
        </p:txBody>
      </p:sp>
      <p:sp>
        <p:nvSpPr>
          <p:cNvPr id="3" name="attempt 1"/>
          <p:cNvSpPr/>
          <p:nvPr/>
        </p:nvSpPr>
        <p:spPr>
          <a:xfrm>
            <a:off x="640080" y="1463040"/>
            <a:ext cx="10881360" cy="960120"/>
          </a:xfrm>
          <a:prstGeom prst="roundRect">
            <a:avLst>
              <a:gd name="adj" fmla="val 1905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914400" y="1700784"/>
            <a:ext cx="475488" cy="475488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18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Corrected the measure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61848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No effect. The bias applied equally to both roads, so it cancelled.</a:t>
            </a:r>
            <a:endParaRPr lang="en-US" sz="1300" dirty="0"/>
          </a:p>
        </p:txBody>
      </p:sp>
      <p:sp>
        <p:nvSpPr>
          <p:cNvPr id="8" name="attempt 2"/>
          <p:cNvSpPr/>
          <p:nvPr/>
        </p:nvSpPr>
        <p:spPr>
          <a:xfrm>
            <a:off x="640080" y="2578608"/>
            <a:ext cx="10881360" cy="960120"/>
          </a:xfrm>
          <a:prstGeom prst="roundRect">
            <a:avLst>
              <a:gd name="adj" fmla="val 1905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914400" y="2816352"/>
            <a:ext cx="475488" cy="475488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52928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A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340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Made the two roads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34056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Still almost nothing. Only blocked arrivals moved, barely.</a:t>
            </a:r>
            <a:endParaRPr lang="en-US" sz="1300" dirty="0"/>
          </a:p>
        </p:txBody>
      </p:sp>
      <p:sp>
        <p:nvSpPr>
          <p:cNvPr id="13" name="attempt 3"/>
          <p:cNvSpPr/>
          <p:nvPr/>
        </p:nvSpPr>
        <p:spPr>
          <a:xfrm>
            <a:off x="640080" y="3694176"/>
            <a:ext cx="10881360" cy="960120"/>
          </a:xfrm>
          <a:prstGeom prst="roundRect">
            <a:avLst>
              <a:gd name="adj" fmla="val 1905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96849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A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Diagnosed 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849624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Controllers agreed 85% of the time. Green was not scarce, so allocating it badly cost nothing.</a:t>
            </a:r>
            <a:endParaRPr lang="en-US" sz="1300" dirty="0"/>
          </a:p>
        </p:txBody>
      </p:sp>
      <p:sp>
        <p:nvSpPr>
          <p:cNvPr id="18" name="attempt 4"/>
          <p:cNvSpPr/>
          <p:nvPr/>
        </p:nvSpPr>
        <p:spPr>
          <a:xfrm>
            <a:off x="640080" y="4809744"/>
            <a:ext cx="10881360" cy="960120"/>
          </a:xfrm>
          <a:prstGeom prst="roundRect">
            <a:avLst>
              <a:gd name="adj" fmla="val 1905"/>
            </a:avLst>
          </a:prstGeom>
          <a:solidFill>
            <a:srgbClr val="1C2418"/>
          </a:solidFill>
          <a:ln w="12700">
            <a:solidFill>
              <a:srgbClr val="1C2418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914400" y="5047488"/>
            <a:ext cx="475488" cy="475488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84064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A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Allocated green duration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496519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It worked. Choosing which road is binary; how long is where a bad measure costs you.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46304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2B1A17"/>
          </a:solidFill>
          <a:ln w="12700">
            <a:solidFill>
              <a:srgbClr val="2B1A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03F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two-wheeler road as cheap — and therefore low value. It scored badly on exactly the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feeder starved: 184 ticks of waiting. In an Indian city those riders are the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463040"/>
            <a:ext cx="5212080" cy="3931920"/>
          </a:xfrm>
          <a:prstGeom prst="roundRect">
            <a:avLst>
              <a:gd name="adj" fmla="val 465"/>
            </a:avLst>
          </a:prstGeom>
          <a:solidFill>
            <a:srgbClr val="1C2418"/>
          </a:solidFill>
          <a:ln w="12700">
            <a:solidFill>
              <a:srgbClr val="1C24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A84F"/>
                </a:solidFill>
              </a:rPr>
              <a:t>The fix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 were optimising a proxy. Road efficiency is a constraint, not the goal.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 we score each road by people moved per second of green, with an explicit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 — while still beating what is deployed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Two standard metrics turned out to be gameable</a:t>
            </a:r>
            <a:endParaRPr lang="en-US" sz="3600" dirty="0"/>
          </a:p>
        </p:txBody>
      </p:sp>
      <p:sp>
        <p:nvSpPr>
          <p:cNvPr id="3" name="trap one"/>
          <p:cNvSpPr/>
          <p:nvPr/>
        </p:nvSpPr>
        <p:spPr>
          <a:xfrm>
            <a:off x="640080" y="1463040"/>
            <a:ext cx="5257800" cy="4023360"/>
          </a:xfrm>
          <a:prstGeom prst="roundRect">
            <a:avLst>
              <a:gd name="adj" fmla="val 45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4" name="signal housing"/>
          <p:cNvSpPr/>
          <p:nvPr/>
        </p:nvSpPr>
        <p:spPr>
          <a:xfrm>
            <a:off x="960120" y="1737360"/>
            <a:ext cx="373075" cy="893826"/>
          </a:xfrm>
          <a:prstGeom prst="roundRect">
            <a:avLst>
              <a:gd name="adj" fmla="val 4902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45616" y="1799539"/>
            <a:ext cx="202082" cy="202082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45616" y="2056028"/>
            <a:ext cx="202082" cy="202082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45616" y="2312518"/>
            <a:ext cx="202082" cy="202082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Average queue rewards refusing traffic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road held at red fills up and then turns arrivals away. Those vehicles never enter the network, so they never appear in the statistic.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plain fixed clock "beat" our controller by blocking about 100 more vehicles per run while serving fewer.</a:t>
            </a:r>
            <a:endParaRPr lang="en-US" sz="1400" dirty="0"/>
          </a:p>
        </p:txBody>
      </p:sp>
      <p:sp>
        <p:nvSpPr>
          <p:cNvPr id="10" name="trap two"/>
          <p:cNvSpPr/>
          <p:nvPr/>
        </p:nvSpPr>
        <p:spPr>
          <a:xfrm>
            <a:off x="6263640" y="1463040"/>
            <a:ext cx="5257800" cy="4023360"/>
          </a:xfrm>
          <a:prstGeom prst="roundRect">
            <a:avLst>
              <a:gd name="adj" fmla="val 455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1" name="signal housing"/>
          <p:cNvSpPr/>
          <p:nvPr/>
        </p:nvSpPr>
        <p:spPr>
          <a:xfrm>
            <a:off x="6583680" y="1737360"/>
            <a:ext cx="373075" cy="893826"/>
          </a:xfrm>
          <a:prstGeom prst="roundRect">
            <a:avLst>
              <a:gd name="adj" fmla="val 4902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12" name="lamp 0"/>
          <p:cNvSpPr/>
          <p:nvPr/>
        </p:nvSpPr>
        <p:spPr>
          <a:xfrm>
            <a:off x="6669176" y="1799539"/>
            <a:ext cx="202082" cy="202082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3" name="lamp 1"/>
          <p:cNvSpPr/>
          <p:nvPr/>
        </p:nvSpPr>
        <p:spPr>
          <a:xfrm>
            <a:off x="6669176" y="2056028"/>
            <a:ext cx="202082" cy="202082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4" name="lamp 2"/>
          <p:cNvSpPr/>
          <p:nvPr/>
        </p:nvSpPr>
        <p:spPr>
          <a:xfrm>
            <a:off x="6669176" y="2312518"/>
            <a:ext cx="202082" cy="202082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5236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Mean delay hides starvation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first RL controller posted the lowest mean queue in the benchmark — by learning to keep some approaches permanently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95th-percentile delay was 66 ticks against a fixed clock’s 27. Every claim we make now carries p95 and worst-case beside the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Built to be installed, not just benchmarked</a:t>
            </a:r>
            <a:endParaRPr lang="en-US" sz="3600" dirty="0"/>
          </a:p>
        </p:txBody>
      </p:sp>
      <p:sp>
        <p:nvSpPr>
          <p:cNvPr id="3" name="pillar Safety shield"/>
          <p:cNvSpPr/>
          <p:nvPr/>
        </p:nvSpPr>
        <p:spPr>
          <a:xfrm>
            <a:off x="640080" y="1463040"/>
            <a:ext cx="5394960" cy="1828800"/>
          </a:xfrm>
          <a:prstGeom prst="roundRect">
            <a:avLst>
              <a:gd name="adj" fmla="val 1000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shield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Minimum green, starvation limits, a guaranteed maximum pedestrian wait. The optimiser proposes; the shield disposes.</a:t>
            </a:r>
            <a:endParaRPr lang="en-US" sz="1300" dirty="0"/>
          </a:p>
        </p:txBody>
      </p:sp>
      <p:sp>
        <p:nvSpPr>
          <p:cNvPr id="7" name="pillar Fails safe"/>
          <p:cNvSpPr/>
          <p:nvPr/>
        </p:nvSpPr>
        <p:spPr>
          <a:xfrm>
            <a:off x="6309360" y="1463040"/>
            <a:ext cx="5394960" cy="1828800"/>
          </a:xfrm>
          <a:prstGeom prst="roundRect">
            <a:avLst>
              <a:gd name="adj" fmla="val 1000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8" name="dot 1"/>
          <p:cNvSpPr/>
          <p:nvPr/>
        </p:nvSpPr>
        <p:spPr>
          <a:xfrm>
            <a:off x="6583680" y="1737360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7804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Fails safe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Kill a detector, drop comms, fail a signal head — each routes to a documented fallback and the UI says which.</a:t>
            </a:r>
            <a:endParaRPr lang="en-US" sz="1300" dirty="0"/>
          </a:p>
        </p:txBody>
      </p:sp>
      <p:sp>
        <p:nvSpPr>
          <p:cNvPr id="11" name="pillar Explains itself"/>
          <p:cNvSpPr/>
          <p:nvPr/>
        </p:nvSpPr>
        <p:spPr>
          <a:xfrm>
            <a:off x="640080" y="3566160"/>
            <a:ext cx="5394960" cy="1828800"/>
          </a:xfrm>
          <a:prstGeom prst="roundRect">
            <a:avLst>
              <a:gd name="adj" fmla="val 1000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12" name="dot 2"/>
          <p:cNvSpPr/>
          <p:nvPr/>
        </p:nvSpPr>
        <p:spPr>
          <a:xfrm>
            <a:off x="914400" y="3840480"/>
            <a:ext cx="384048" cy="384048"/>
          </a:xfrm>
          <a:prstGeom prst="ellipse">
            <a:avLst/>
          </a:prstGeom>
          <a:solidFill>
            <a:srgbClr val="A8A398"/>
          </a:solidFill>
          <a:ln w="12700">
            <a:solidFill>
              <a:srgbClr val="A8A3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Explains itself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Every phase change is logged with the pressures behind it and the constraint that overrode the optimiser.</a:t>
            </a:r>
            <a:endParaRPr lang="en-US" sz="1300" dirty="0"/>
          </a:p>
        </p:txBody>
      </p:sp>
      <p:sp>
        <p:nvSpPr>
          <p:cNvPr id="15" name="pillar Speaks in city units"/>
          <p:cNvSpPr/>
          <p:nvPr/>
        </p:nvSpPr>
        <p:spPr>
          <a:xfrm>
            <a:off x="6309360" y="3566160"/>
            <a:ext cx="5394960" cy="1828800"/>
          </a:xfrm>
          <a:prstGeom prst="roundRect">
            <a:avLst>
              <a:gd name="adj" fmla="val 1000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16" name="dot 3"/>
          <p:cNvSpPr/>
          <p:nvPr/>
        </p:nvSpPr>
        <p:spPr>
          <a:xfrm>
            <a:off x="6583680" y="3840480"/>
            <a:ext cx="384048" cy="384048"/>
          </a:xfrm>
          <a:prstGeom prst="ellipse">
            <a:avLst/>
          </a:prstGeom>
          <a:solidFill>
            <a:srgbClr val="B0883C"/>
          </a:solidFill>
          <a:ln w="12700">
            <a:solidFill>
              <a:srgbClr val="B088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Speaks in city units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Idle fuel, CO₂ and rupees per year, with every assumption listed and challengeable.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in this deck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1333"/>
            </a:avLst>
          </a:prstGeom>
          <a:solidFill>
            <a:srgbClr val="16161A"/>
          </a:solidFill>
          <a:ln w="12700">
            <a:solidFill>
              <a:srgbClr val="1616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A8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87F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stat claims reproduced"/>
          <p:cNvSpPr txBox="1"/>
          <p:nvPr/>
        </p:nvSpPr>
        <p:spPr>
          <a:xfrm>
            <a:off x="6400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6AA84F"/>
                </a:solidFill>
              </a:rPr>
              <a:t>10/10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stat automated tests"/>
          <p:cNvSpPr txBox="1"/>
          <p:nvPr/>
        </p:nvSpPr>
        <p:spPr>
          <a:xfrm>
            <a:off x="438912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119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stat fails on drift"/>
          <p:cNvSpPr txBox="1"/>
          <p:nvPr/>
        </p:nvSpPr>
        <p:spPr>
          <a:xfrm>
            <a:off x="813816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A33D"/>
                </a:solidFill>
              </a:rPr>
              <a:t>CI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fails on drift</a:t>
            </a:r>
            <a:endParaRPr lang="en-US" sz="1300" dirty="0"/>
          </a:p>
        </p:txBody>
      </p:sp>
      <p:sp>
        <p:nvSpPr>
          <p:cNvPr id="12" name="negatives card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1333"/>
            </a:avLst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8646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verifies the results that went against us, too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claim that our correction changes nothing when both roads carry the same traffic must keep coming back with a confidence interval spanning zero. If a future change makes that pass for the wrong reason, the build goes 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are not claiming</a:t>
            </a:r>
            <a:endParaRPr lang="en-US" sz="3600" dirty="0"/>
          </a:p>
        </p:txBody>
      </p:sp>
      <p:sp>
        <p:nvSpPr>
          <p:cNvPr id="3" name="limit 0"/>
          <p:cNvSpPr/>
          <p:nvPr/>
        </p:nvSpPr>
        <p:spPr>
          <a:xfrm>
            <a:off x="640080" y="1417320"/>
            <a:ext cx="1088136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453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</a:rPr>
              <a:t>Parameters are estimates, not measurements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154533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Lateral widths and headways are centre estimates. Calibrating them needs stop-line video from a real junction, which we have not done.</a:t>
            </a:r>
            <a:endParaRPr lang="en-US" sz="1300" dirty="0"/>
          </a:p>
        </p:txBody>
      </p:sp>
      <p:sp>
        <p:nvSpPr>
          <p:cNvPr id="6" name="limit 1"/>
          <p:cNvSpPr/>
          <p:nvPr/>
        </p:nvSpPr>
        <p:spPr>
          <a:xfrm>
            <a:off x="640080" y="2578608"/>
            <a:ext cx="1088136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06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</a:rPr>
              <a:t>It trades vehicles for people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70662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About 1,800 fewer vehicles move while 1,900 more people do. Whether a city wants that is a policy decision, not a technical result.</a:t>
            </a:r>
            <a:endParaRPr lang="en-US" sz="1300" dirty="0"/>
          </a:p>
        </p:txBody>
      </p:sp>
      <p:sp>
        <p:nvSpPr>
          <p:cNvPr id="9" name="limit 2"/>
          <p:cNvSpPr/>
          <p:nvPr/>
        </p:nvSpPr>
        <p:spPr>
          <a:xfrm>
            <a:off x="640080" y="3739896"/>
            <a:ext cx="1088136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6791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</a:rPr>
              <a:t>It loses where traffic is uniform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86791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With every road carrying the same mix it is measurably behind the conventional controller. It pays only when roads differ and green is scarce.</a:t>
            </a:r>
            <a:endParaRPr lang="en-US" sz="1300" dirty="0"/>
          </a:p>
        </p:txBody>
      </p:sp>
      <p:sp>
        <p:nvSpPr>
          <p:cNvPr id="12" name="limit 3"/>
          <p:cNvSpPr/>
          <p:nvPr/>
        </p:nvSpPr>
        <p:spPr>
          <a:xfrm>
            <a:off x="640080" y="4901184"/>
            <a:ext cx="10881360" cy="1005840"/>
          </a:xfrm>
          <a:prstGeom prst="roundRect">
            <a:avLst>
              <a:gd name="adj" fmla="val 1818"/>
            </a:avLst>
          </a:prstGeom>
          <a:solidFill>
            <a:srgbClr val="21222A"/>
          </a:solidFill>
          <a:ln w="12700">
            <a:solidFill>
              <a:srgbClr val="2122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</a:rPr>
              <a:t>The engine is not a traffic simulator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50292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87F"/>
                </a:solidFill>
              </a:rPr>
              <a:t>Final performance claims must be regenerated in SUMO with a heterogeneous vehicle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Measure the right thing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8C887F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</a:rPr>
              <a:t>Every figure re-runs with one command — including the ones that went against us.</a:t>
            </a:r>
            <a:endParaRPr lang="en-US" sz="1700" dirty="0"/>
          </a:p>
        </p:txBody>
      </p:sp>
      <p:sp>
        <p:nvSpPr>
          <p:cNvPr id="4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2604"/>
            </a:avLst>
          </a:prstGeom>
          <a:solidFill>
            <a:srgbClr val="111115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26262C"/>
          </a:solidFill>
          <a:ln w="12700">
            <a:solidFill>
              <a:srgbClr val="2E2E34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6AA84F"/>
          </a:solidFill>
          <a:ln w="12700">
            <a:solidFill>
              <a:srgbClr val="6AA84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16161A"/>
      </a:dk1>
      <a:lt1>
        <a:srgbClr val="F2EFE9"/>
      </a:lt1>
      <a:dk2>
        <a:srgbClr val="21222A"/>
      </a:dk2>
      <a:lt2>
        <a:srgbClr val="E4E0D8"/>
      </a:lt2>
      <a:accent1>
        <a:srgbClr val="E8A33D"/>
      </a:accent1>
      <a:accent2>
        <a:srgbClr val="6AA84F"/>
      </a:accent2>
      <a:accent3>
        <a:srgbClr val="C8503F"/>
      </a:accent3>
      <a:accent4>
        <a:srgbClr val="A8A398"/>
      </a:accent4>
      <a:accent5>
        <a:srgbClr val="8C887F"/>
      </a:accent5>
      <a:accent6>
        <a:srgbClr val="B0883C"/>
      </a:accent6>
      <a:hlink>
        <a:srgbClr val="E8A33D"/>
      </a:hlink>
      <a:folHlink>
        <a:srgbClr val="8C887F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2026-10-08T17:53:39Z</dcterms:created>
  <dcterms:modified xsi:type="dcterms:W3CDTF">2026-10-08T17:53:39Z</dcterms:modified>
</cp:coreProperties>
</file>