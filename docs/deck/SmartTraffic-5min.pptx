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k" id="{49513ad4-6ade-7156-f77a-07a5c30a721e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[0:00-0:25] We built an adaptive traffic signal controller. The part that is new is that it is designed for traffic without lane discipline. Everything I show you re-runs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[0:25-1:10] Every adaptive system in the world is built on the left-hand column. Indian traffic is the right-hand column. That gap is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[1:10-2:00] We derived discharge from physical width and headway instead. The car column being identical matters — where the old assumption holds, we agree with it exactly. We are not just picking numbers that suit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[2:00-2:55] This is the slide to dwell on. We found the equity problem in our own result and fixed it, rather than reporting the bigger number and hoping nobody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[2:55-3:50] Ten seeds, paired confidence intervals. The red bar is our own first attempt — we show it because it is the reason the final controller is shaped this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[3:50-4:40] Say the limitations out loud. Volunteering them before being asked is what makes the rest of the numbers believable.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[4:40-5:00] Close on the one-sentence version, then offer the live demo: the Mixed fleet tab runs the whole study on screen,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8C887F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SmartTraffic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8C887F"/>
                </a:solidFill>
              </a:rPr>
              <a:t>Adaptive signal control built for lane-less Indian traffic   ·   Design of Smart Cities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206240"/>
            <a:ext cx="6035040" cy="1234440"/>
          </a:xfrm>
          <a:prstGeom prst="roundRect">
            <a:avLst>
              <a:gd name="adj" fmla="val 1481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3708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600" dirty="0">
                <a:solidFill>
                  <a:srgbClr val="E8A33D"/>
                </a:solidFill>
              </a:rPr>
              <a:t>   24BCE5296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800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600" dirty="0">
                <a:solidFill>
                  <a:srgbClr val="E8A33D"/>
                </a:solidFill>
              </a:rPr>
              <a:t>   24BCE5255</a:t>
            </a:r>
            <a:endParaRPr lang="en-US" sz="16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Textbooks assume lanes. We have none.</a:t>
            </a:r>
            <a:endParaRPr lang="en-US" sz="3600" dirty="0"/>
          </a:p>
        </p:txBody>
      </p:sp>
      <p:sp>
        <p:nvSpPr>
          <p:cNvPr id="3" name="assumption card"/>
          <p:cNvSpPr/>
          <p:nvPr/>
        </p:nvSpPr>
        <p:spPr>
          <a:xfrm>
            <a:off x="640080" y="1554480"/>
            <a:ext cx="5257800" cy="3566160"/>
          </a:xfrm>
          <a:prstGeom prst="roundRect">
            <a:avLst>
              <a:gd name="adj" fmla="val 513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887F"/>
                </a:solidFill>
              </a:rPr>
              <a:t>What the textbooks say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Traffic queues in neat lanes. One vehicle crosses per lane, per gap. A bus and a scooter both get turned into "car equivalents" using a fixed number.</a:t>
            </a:r>
            <a:endParaRPr lang="en-US" sz="1500" dirty="0"/>
          </a:p>
        </p:txBody>
      </p:sp>
      <p:sp>
        <p:nvSpPr>
          <p:cNvPr id="6" name="reality card"/>
          <p:cNvSpPr/>
          <p:nvPr/>
        </p:nvSpPr>
        <p:spPr>
          <a:xfrm>
            <a:off x="6263640" y="1554480"/>
            <a:ext cx="5257800" cy="3566160"/>
          </a:xfrm>
          <a:prstGeom prst="roundRect">
            <a:avLst>
              <a:gd name="adj" fmla="val 513"/>
            </a:avLst>
          </a:prstGeom>
          <a:solidFill>
            <a:srgbClr val="2A2114"/>
          </a:solidFill>
          <a:ln w="12700">
            <a:solidFill>
              <a:srgbClr val="2A211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</a:rPr>
              <a:t>What actually happens here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Scooters do not wait their turn in a lane. They filter into gaps and cross three abreast where one car fits. So what really limits a junction is how much width a vehicle takes, not a number borrowed from moving traffic.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C887F"/>
                </a:solidFill>
              </a:rPr>
              <a:t>Chennai: 132 hours lost per driver per year, 16 km/h at peak  ·  TomTom 2025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465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8503F"/>
                </a:solidFill>
              </a:rPr>
              <a:t>21.5%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the green light is wasted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15468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road stays green after its queue has gone. Those seconds come straight out of the cross street.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For cars, our model gives exactly the textbook answer. It only disagrees where lane discipline breaks down.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50876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2B1A17"/>
          </a:solidFill>
          <a:ln w="12700">
            <a:solidFill>
              <a:srgbClr val="2B1A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03F"/>
                </a:solidFill>
              </a:rPr>
              <a:t>Fixing the measurement was not enough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Measuring green-seconds per vehicle makes a scooter road look cheap, so it scored badly on the very thing we were maximising.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It left that road red for 184 ticks. Minutes. And the people waiting were the ones who could least afford to.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1C2418"/>
          </a:solidFill>
          <a:ln w="12700">
            <a:solidFill>
              <a:srgbClr val="1C24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A84F"/>
                </a:solidFill>
              </a:rPr>
              <a:t>So we changed what we aimed at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Efficiency is not the goal, it is a limit. We now score each road by how many people it moves per second of green, plus a fairness term for how long it has been kept waiting.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worst wait dropped from 184 ticks to 37.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1,911 more people moved than today’s method (±848),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234440"/>
          </a:xfrm>
          <a:prstGeom prst="roundRect">
            <a:avLst>
              <a:gd name="adj" fmla="val 148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A8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3969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87F"/>
                </a:solidFill>
              </a:rPr>
              <a:t>Re-runs every number in our docs. If one stops being true, the build fails.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AA84F"/>
                </a:solidFill>
              </a:rPr>
              <a:t>10/10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130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16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controllers benchmarked</a:t>
            </a:r>
            <a:endParaRPr lang="en-US" sz="1300" dirty="0"/>
          </a:p>
        </p:txBody>
      </p:sp>
      <p:sp>
        <p:nvSpPr>
          <p:cNvPr id="12" name="limits card"/>
          <p:cNvSpPr/>
          <p:nvPr/>
        </p:nvSpPr>
        <p:spPr>
          <a:xfrm>
            <a:off x="640080" y="4251960"/>
            <a:ext cx="10881360" cy="1371600"/>
          </a:xfrm>
          <a:prstGeom prst="roundRect">
            <a:avLst>
              <a:gd name="adj" fmla="val 1333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we are not claiming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discharge numbers are estimates, not measurements from a real junction. We move more people but fewer vehicles, and which of those a city wants is their call. And when every road carries the same mix, we are actually behind the conventional one.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Measure the right thing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8C887F"/>
                </a:solidFill>
              </a:rPr>
              <a:t>Signal control was designed for traffic that queues in lanes. Ours is not like that. We worked out how Indian traffic really clears a junction, found the standard method wastes a fifth of the green, then fixed the unfairness our own fix introduced.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480560"/>
            <a:ext cx="6035040" cy="1005840"/>
          </a:xfrm>
          <a:prstGeom prst="roundRect">
            <a:avLst>
              <a:gd name="adj" fmla="val 1818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7365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</a:rPr>
              <a:t>Rishab CV · 24BCE5296       Martin Wills · 24BCE5255</a:t>
            </a:r>
            <a:endParaRPr lang="en-US" sz="1400" dirty="0"/>
          </a:p>
        </p:txBody>
      </p:sp>
      <p:sp>
        <p:nvSpPr>
          <p:cNvPr id="6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7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8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16161A"/>
      </a:dk1>
      <a:lt1>
        <a:srgbClr val="F2EFE9"/>
      </a:lt1>
      <a:dk2>
        <a:srgbClr val="21222A"/>
      </a:dk2>
      <a:lt2>
        <a:srgbClr val="E4E0D8"/>
      </a:lt2>
      <a:accent1>
        <a:srgbClr val="E8A33D"/>
      </a:accent1>
      <a:accent2>
        <a:srgbClr val="6AA84F"/>
      </a:accent2>
      <a:accent3>
        <a:srgbClr val="C8503F"/>
      </a:accent3>
      <a:accent4>
        <a:srgbClr val="A8A398"/>
      </a:accent4>
      <a:accent5>
        <a:srgbClr val="8C887F"/>
      </a:accent5>
      <a:accent6>
        <a:srgbClr val="B0883C"/>
      </a:accent6>
      <a:hlink>
        <a:srgbClr val="E8A33D"/>
      </a:hlink>
      <a:folHlink>
        <a:srgbClr val="8C887F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2026-10-08T17:54:12Z</dcterms:created>
  <dcterms:modified xsi:type="dcterms:W3CDTF">2026-10-08T17:54:12Z</dcterms:modified>
</cp:coreProperties>
</file>