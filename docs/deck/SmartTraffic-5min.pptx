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k" id="{e7e61d42-661a-015c-3db8-3822732747e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2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[0:00-0:25] We built an adaptive traffic signal controller. The part that is new is that it is designed for traffic without lane discipline. Everything I show you re-runs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[0:25-1:10] Every adaptive system in the world is built on the left-hand column. Indian traffic is the right-hand column. That gap is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[1:10-2:00] We derived discharge from physical width and headway instead. The car column being identical matters — where the old assumption holds, we agree with it exactly. We are not just picking numbers that suit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[2:00-2:55] This is the slide to dwell on. We found the equity problem in our own result and fixed it, rather than reporting the bigger number and hoping nobody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[2:55-3:50] Ten seeds, paired confidence intervals. The red bar is our own first attempt — we show it because it is the reason the final controller is shaped this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[3:50-4:40] Say the limitations out loud. Volunteering them before being asked is what makes the rest of the numbers believable.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[4:40-5:00] Close on the one-sentence version, then offer the live demo: the Mixed fleet tab runs the whole study on screen,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7B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SmartTraffic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7B8"/>
                </a:solidFill>
              </a:rPr>
              <a:t>Adaptive signal control built for lane-less Indian traffic   ·   SIH PS90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206240"/>
            <a:ext cx="6035040" cy="1234440"/>
          </a:xfrm>
          <a:prstGeom prst="roundRect">
            <a:avLst>
              <a:gd name="adj" fmla="val 5926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3708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600" dirty="0">
                <a:solidFill>
                  <a:srgbClr val="FFB347"/>
                </a:solidFill>
              </a:rPr>
              <a:t>   24BCE5296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800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600" dirty="0">
                <a:solidFill>
                  <a:srgbClr val="FFB347"/>
                </a:solidFill>
              </a:rPr>
              <a:t>   24BCE5255</a:t>
            </a:r>
            <a:endParaRPr lang="en-US" sz="16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Signal theory assumes lane discipline</a:t>
            </a:r>
            <a:endParaRPr lang="en-US" sz="3600" dirty="0"/>
          </a:p>
        </p:txBody>
      </p:sp>
      <p:sp>
        <p:nvSpPr>
          <p:cNvPr id="3" name="assumption card"/>
          <p:cNvSpPr/>
          <p:nvPr/>
        </p:nvSpPr>
        <p:spPr>
          <a:xfrm>
            <a:off x="640080" y="15544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4A7B8"/>
                </a:solidFill>
              </a:rPr>
              <a:t>What the textbooks assume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Vehicles queue single file. One crosses per lane per headway. A fixed factor converts a bus or a scooter into "car equivalents".</a:t>
            </a:r>
            <a:endParaRPr lang="en-US" sz="1500" dirty="0"/>
          </a:p>
        </p:txBody>
      </p:sp>
      <p:sp>
        <p:nvSpPr>
          <p:cNvPr id="6" name="reality card"/>
          <p:cNvSpPr/>
          <p:nvPr/>
        </p:nvSpPr>
        <p:spPr>
          <a:xfrm>
            <a:off x="6263640" y="15544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2A2015"/>
          </a:solidFill>
          <a:ln w="12700">
            <a:solidFill>
              <a:srgbClr val="2A201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347"/>
                </a:solidFill>
              </a:rPr>
              <a:t>What an Indian junction does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7B8"/>
                </a:solidFill>
              </a:rPr>
              <a:t>Chennai: 132 hours lost per driver per year, 16 km/h at peak  ·  TomTom 2025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5A5A"/>
                </a:solidFill>
              </a:rPr>
              <a:t>21.5%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green wasted at Indian traffic mixes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20040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 green after the queue has already cleared. Those seconds are taken from the cross street.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exactly,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50876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2A1518"/>
          </a:solidFill>
          <a:ln w="12700">
            <a:solidFill>
              <a:srgbClr val="2A151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A5A"/>
                </a:solidFill>
              </a:rPr>
              <a:t>Correcting the measure was not enough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5146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scooter road as cheap, so it scored badly on the very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It starved that road: 184 ticks of waiting — minutes — falling on the riders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E87C"/>
                </a:solidFill>
              </a:rPr>
              <a:t>So we changed what we optimise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5146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Road efficiency is a constraint, not the goal. The controller now scores each road by people moved per second of green, with a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E1620"/>
          </a:solidFill>
          <a:ln w="12700">
            <a:solidFill>
              <a:srgbClr val="0E16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E8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3969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7B8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CE87C"/>
                </a:solidFill>
              </a:rPr>
              <a:t>10/10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122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controllers benchmarked</a:t>
            </a:r>
            <a:endParaRPr lang="en-US" sz="1300" dirty="0"/>
          </a:p>
        </p:txBody>
      </p:sp>
      <p:sp>
        <p:nvSpPr>
          <p:cNvPr id="12" name="limits card"/>
          <p:cNvSpPr/>
          <p:nvPr/>
        </p:nvSpPr>
        <p:spPr>
          <a:xfrm>
            <a:off x="640080" y="42519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we are not claiming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Discharge parameters are estimates, not measurements from a real junction. It moves more people but fewer vehicles, which is a policy choice. And where every road carries the same traffic it is measurably behind the conventional controller.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Measure the right thing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7B8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480560"/>
            <a:ext cx="603504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7365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347"/>
                </a:solidFill>
              </a:rPr>
              <a:t>Rishab CV · 24BCE5296       Martin Wills · 24BCE5255</a:t>
            </a:r>
            <a:endParaRPr lang="en-US" sz="1400" dirty="0"/>
          </a:p>
        </p:txBody>
      </p:sp>
      <p:sp>
        <p:nvSpPr>
          <p:cNvPr id="6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7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8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0E1620"/>
      </a:dk1>
      <a:lt1>
        <a:srgbClr val="FFFFFF"/>
      </a:lt1>
      <a:dk2>
        <a:srgbClr val="1B2A3A"/>
      </a:dk2>
      <a:lt2>
        <a:srgbClr val="EEF3F7"/>
      </a:lt2>
      <a:accent1>
        <a:srgbClr val="FFB347"/>
      </a:accent1>
      <a:accent2>
        <a:srgbClr val="3CE87C"/>
      </a:accent2>
      <a:accent3>
        <a:srgbClr val="FF5A5A"/>
      </a:accent3>
      <a:accent4>
        <a:srgbClr val="8FD8FF"/>
      </a:accent4>
      <a:accent5>
        <a:srgbClr val="94A7B8"/>
      </a:accent5>
      <a:accent6>
        <a:srgbClr val="C9A227"/>
      </a:accent6>
      <a:hlink>
        <a:srgbClr val="8FD8FF"/>
      </a:hlink>
      <a:folHlink>
        <a:srgbClr val="94A7B8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2026-10-06T17:39:57Z</dcterms:created>
  <dcterms:modified xsi:type="dcterms:W3CDTF">2026-10-06T17:39:57Z</dcterms:modified>
</cp:coreProperties>
</file>