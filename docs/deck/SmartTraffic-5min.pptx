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ck" id="{e7e61d42-661a-015c-3db8-3822732747e1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44525F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44525F"/>
                </a:solidFill>
                <a:latin typeface="+mn-lt"/>
              </a:rPr>
              <a:t>Car-equivalents per vehicle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Static PCU (used today)</c:v>
                </c:pt>
              </c:strCache>
            </c:strRef>
          </c:tx>
          <c:spPr>
            <a:solidFill>
              <a:srgbClr val="94A7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452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Two-wheeler</c:v>
                  </c:pt>
                  <c:pt idx="1">
                    <c:v>Auto</c:v>
                  </c:pt>
                  <c:pt idx="2">
                    <c:v>Car</c:v>
                  </c:pt>
                  <c:pt idx="3">
                    <c:v>Bus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</c:v>
                </c:pt>
                <c:pt idx="1">
                  <c:v>0.8</c:v>
                </c:pt>
                <c:pt idx="2">
                  <c:v>1</c:v>
                </c:pt>
                <c:pt idx="3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Implied by real discharge</c:v>
                </c:pt>
              </c:strCache>
            </c:strRef>
          </c:tx>
          <c:spPr>
            <a:solidFill>
              <a:srgbClr val="FFB34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452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Two-wheeler</c:v>
                  </c:pt>
                  <c:pt idx="1">
                    <c:v>Auto</c:v>
                  </c:pt>
                  <c:pt idx="2">
                    <c:v>Car</c:v>
                  </c:pt>
                  <c:pt idx="3">
                    <c:v>Bus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0.32</c:v>
                </c:pt>
                <c:pt idx="1">
                  <c:v>0.66</c:v>
                </c:pt>
                <c:pt idx="2">
                  <c:v>1</c:v>
                </c:pt>
                <c:pt idx="3">
                  <c:v>1.8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4452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7B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.2"/>
        </c:scaling>
        <c:delete val="0"/>
        <c:axPos val="l"/>
        <c:majorGridlines>
          <c:spPr>
            <a:ln w="12700" cap="flat">
              <a:solidFill>
                <a:srgbClr val="DCE4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7B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4525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44525F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44525F"/>
                </a:solidFill>
                <a:latin typeface="+mn-lt"/>
              </a:rPr>
              <a:t>People moved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People moved</c:v>
                </c:pt>
              </c:strCache>
            </c:strRef>
          </c:tx>
          <c:spPr>
            <a:solidFill>
              <a:srgbClr val="94A7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452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4A7B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F5A5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CE87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Static PCU
(deployed today)</c:v>
                  </c:pt>
                  <c:pt idx="1">
                    <c:v>Efficiency only</c:v>
                  </c:pt>
                  <c:pt idx="2">
                    <c:v>People per second
(ours)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34772</c:v>
                </c:pt>
                <c:pt idx="1">
                  <c:v>41099</c:v>
                </c:pt>
                <c:pt idx="2">
                  <c:v>36683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4452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7B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6000"/>
        </c:scaling>
        <c:delete val="0"/>
        <c:axPos val="l"/>
        <c:majorGridlines>
          <c:spPr>
            <a:ln w="12700" cap="flat">
              <a:solidFill>
                <a:srgbClr val="DCE4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7B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44525F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44525F"/>
                </a:solidFill>
                <a:latin typeface="+mn-lt"/>
              </a:rPr>
              <a:t>Worst approach wait (ticks) — lower is better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Worst approach wait</c:v>
                </c:pt>
              </c:strCache>
            </c:strRef>
          </c:tx>
          <c:spPr>
            <a:solidFill>
              <a:srgbClr val="94A7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452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4A7B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F5A5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CE87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Static PCU
(deployed today)</c:v>
                  </c:pt>
                  <c:pt idx="1">
                    <c:v>Efficiency only</c:v>
                  </c:pt>
                  <c:pt idx="2">
                    <c:v>People per second
(ours)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31.5</c:v>
                </c:pt>
                <c:pt idx="1">
                  <c:v>184.5</c:v>
                </c:pt>
                <c:pt idx="2">
                  <c:v>37.1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4452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7B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5"/>
        </c:scaling>
        <c:delete val="0"/>
        <c:axPos val="l"/>
        <c:majorGridlines>
          <c:spPr>
            <a:ln w="12700" cap="flat">
              <a:solidFill>
                <a:srgbClr val="DCE4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7B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[0:00-0:25] We built an adaptive traffic signal controller. The part that is new is that it is designed for traffic without lane discipline. Everything I show you re-runs from the repository with one command.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[0:25-1:10] Every adaptive system in the world is built on the left-hand column. Indian traffic is the right-hand column. That gap is the whole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[1:10-2:00] We derived discharge from physical width and headway instead. The car column being identical matters — where the old assumption holds, we agree with it exactly. We are not just picking numbers that suit 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[2:00-2:55] This is the slide to dwell on. We found the equity problem in our own result and fixed it, rather than reporting the bigger number and hoping nobody asked.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[2:55-3:50] Ten seeds, paired confidence intervals. The red bar is our own first attempt — we show it because it is the reason the final controller is shaped this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[3:50-4:40] Say the limitations out loud. Volunteering them before being asked is what makes the rest of the numbers believable.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[4:40-5:00] Close on the one-sentence version, then offer the live demo: the Mixed fleet tab runs the whole study on screen, and the control condition is a checkbox.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0E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828800"/>
            <a:ext cx="108813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6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20040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94A7B8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_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  <p:sp>
        <p:nvSpPr>
          <p:cNvPr id="3" name="Text 0"/>
          <p:cNvSpPr txBox="1"/>
          <p:nvPr/>
        </p:nvSpPr>
        <p:spPr>
          <a:xfrm>
            <a:off x="64008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7B8"/>
                </a:solidFill>
              </a:rPr>
              <a:t>SmartTraffic · SIH PS90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CONTENT">
    <p:bg>
      <p:bgPr>
        <a:solidFill>
          <a:srgbClr val="0E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  <p:sp>
        <p:nvSpPr>
          <p:cNvPr id="3" name="Text 0"/>
          <p:cNvSpPr txBox="1"/>
          <p:nvPr/>
        </p:nvSpPr>
        <p:spPr>
          <a:xfrm>
            <a:off x="64008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7B8"/>
                </a:solidFill>
              </a:rPr>
              <a:t>SmartTraffic · SIH PS90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828800"/>
            <a:ext cx="10881360" cy="12801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4600" b="1" dirty="0">
                <a:solidFill>
                  <a:schemeClr val="bg1"/>
                </a:solidFill>
              </a:rPr>
              <a:t>SmartTraffic</a:t>
            </a: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20040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rgbClr val="94A7B8"/>
                </a:solidFill>
              </a:rPr>
              <a:t>Adaptive signal control built for lane-less Indian traffic   ·   SIH PS90</a:t>
            </a:r>
            <a:endParaRPr lang="en-US" sz="1800" dirty="0"/>
          </a:p>
        </p:txBody>
      </p:sp>
      <p:sp>
        <p:nvSpPr>
          <p:cNvPr id="4" name="team card"/>
          <p:cNvSpPr/>
          <p:nvPr/>
        </p:nvSpPr>
        <p:spPr>
          <a:xfrm>
            <a:off x="640080" y="4206240"/>
            <a:ext cx="6035040" cy="1234440"/>
          </a:xfrm>
          <a:prstGeom prst="roundRect">
            <a:avLst>
              <a:gd name="adj" fmla="val 5926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4370832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Rishab CV</a:t>
            </a:r>
            <a:pPr indent="0" marL="0">
              <a:buNone/>
            </a:pPr>
            <a:r>
              <a:rPr lang="en-US" sz="1600" dirty="0">
                <a:solidFill>
                  <a:srgbClr val="FFB347"/>
                </a:solidFill>
              </a:rPr>
              <a:t>   24BCE5296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480060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Martin Wills</a:t>
            </a:r>
            <a:pPr indent="0" marL="0">
              <a:buNone/>
            </a:pPr>
            <a:r>
              <a:rPr lang="en-US" sz="1600" dirty="0">
                <a:solidFill>
                  <a:srgbClr val="FFB347"/>
                </a:solidFill>
              </a:rPr>
              <a:t>   24BCE5255</a:t>
            </a:r>
            <a:endParaRPr lang="en-US" sz="1600" dirty="0"/>
          </a:p>
        </p:txBody>
      </p:sp>
      <p:sp>
        <p:nvSpPr>
          <p:cNvPr id="7" name="signal housing"/>
          <p:cNvSpPr/>
          <p:nvPr/>
        </p:nvSpPr>
        <p:spPr>
          <a:xfrm>
            <a:off x="10149840" y="1828800"/>
            <a:ext cx="702259" cy="1682496"/>
          </a:xfrm>
          <a:prstGeom prst="roundRect">
            <a:avLst>
              <a:gd name="adj" fmla="val 7813"/>
            </a:avLst>
          </a:prstGeom>
          <a:solidFill>
            <a:srgbClr val="09111A"/>
          </a:solidFill>
          <a:ln w="12700">
            <a:solidFill>
              <a:srgbClr val="24323F"/>
            </a:solidFill>
            <a:prstDash val="solid"/>
          </a:ln>
        </p:spPr>
      </p:sp>
      <p:sp>
        <p:nvSpPr>
          <p:cNvPr id="8" name="lamp 0"/>
          <p:cNvSpPr/>
          <p:nvPr/>
        </p:nvSpPr>
        <p:spPr>
          <a:xfrm>
            <a:off x="10310774" y="1945843"/>
            <a:ext cx="380390" cy="380390"/>
          </a:xfrm>
          <a:prstGeom prst="ellipse">
            <a:avLst/>
          </a:prstGeom>
          <a:solidFill>
            <a:srgbClr val="1B2730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9" name="lamp 1"/>
          <p:cNvSpPr/>
          <p:nvPr/>
        </p:nvSpPr>
        <p:spPr>
          <a:xfrm>
            <a:off x="10310774" y="2428646"/>
            <a:ext cx="380390" cy="380390"/>
          </a:xfrm>
          <a:prstGeom prst="ellipse">
            <a:avLst/>
          </a:prstGeom>
          <a:solidFill>
            <a:srgbClr val="1B2730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10" name="lamp 2"/>
          <p:cNvSpPr/>
          <p:nvPr/>
        </p:nvSpPr>
        <p:spPr>
          <a:xfrm>
            <a:off x="10310774" y="2911450"/>
            <a:ext cx="380390" cy="380390"/>
          </a:xfrm>
          <a:prstGeom prst="ellipse">
            <a:avLst/>
          </a:prstGeom>
          <a:solidFill>
            <a:srgbClr val="3CE87C"/>
          </a:solidFill>
          <a:ln w="12700">
            <a:solidFill>
              <a:srgbClr val="3CE87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Signal theory assumes lane discipline</a:t>
            </a:r>
            <a:endParaRPr lang="en-US" sz="3600" dirty="0"/>
          </a:p>
        </p:txBody>
      </p:sp>
      <p:sp>
        <p:nvSpPr>
          <p:cNvPr id="3" name="assumption card"/>
          <p:cNvSpPr/>
          <p:nvPr/>
        </p:nvSpPr>
        <p:spPr>
          <a:xfrm>
            <a:off x="640080" y="1554480"/>
            <a:ext cx="5257800" cy="3566160"/>
          </a:xfrm>
          <a:prstGeom prst="roundRect">
            <a:avLst>
              <a:gd name="adj" fmla="val 2051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4A7B8"/>
                </a:solidFill>
              </a:rPr>
              <a:t>What the textbooks assume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228600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Vehicles queue single file. One crosses per lane per headway. A fixed factor converts a bus or a scooter into "car equivalents".</a:t>
            </a:r>
            <a:endParaRPr lang="en-US" sz="1500" dirty="0"/>
          </a:p>
        </p:txBody>
      </p:sp>
      <p:sp>
        <p:nvSpPr>
          <p:cNvPr id="6" name="reality card"/>
          <p:cNvSpPr/>
          <p:nvPr/>
        </p:nvSpPr>
        <p:spPr>
          <a:xfrm>
            <a:off x="6263640" y="1554480"/>
            <a:ext cx="5257800" cy="3566160"/>
          </a:xfrm>
          <a:prstGeom prst="roundRect">
            <a:avLst>
              <a:gd name="adj" fmla="val 2051"/>
            </a:avLst>
          </a:prstGeom>
          <a:solidFill>
            <a:srgbClr val="2A2015"/>
          </a:solidFill>
          <a:ln w="12700">
            <a:solidFill>
              <a:srgbClr val="2A201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0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347"/>
                </a:solidFill>
              </a:rPr>
              <a:t>What an Indian junction does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583680" y="228600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Two-wheelers filter into lateral gaps and cross two or three abreast where one car fits. What limits the stop line is lateral space — not a factor calibrated for moving traffic.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53492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4A7B8"/>
                </a:solidFill>
              </a:rPr>
              <a:t>Chennai: 132 hours lost per driver per year, 16 km/h at peak  ·  TomTom 2025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conventional factor is 56% too high</a:t>
            </a:r>
            <a:endParaRPr lang="en-US" sz="3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40080" y="1463040"/>
          <a:ext cx="66751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finding card"/>
          <p:cNvSpPr/>
          <p:nvPr/>
        </p:nvSpPr>
        <p:spPr>
          <a:xfrm>
            <a:off x="7589520" y="1463040"/>
            <a:ext cx="3931920" cy="3931920"/>
          </a:xfrm>
          <a:prstGeom prst="roundRect">
            <a:avLst>
              <a:gd name="adj" fmla="val 186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863840" y="173736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5A5A"/>
                </a:solidFill>
              </a:rPr>
              <a:t>21.5%</a:t>
            </a:r>
            <a:endParaRPr lang="en-US" sz="5000" dirty="0"/>
          </a:p>
        </p:txBody>
      </p:sp>
      <p:sp>
        <p:nvSpPr>
          <p:cNvPr id="6" name="Text 3"/>
          <p:cNvSpPr txBox="1"/>
          <p:nvPr/>
        </p:nvSpPr>
        <p:spPr>
          <a:xfrm>
            <a:off x="7863840" y="25603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of green wasted at Indian traffic mixes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863840" y="3200400"/>
            <a:ext cx="3383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Held green after the queue has already cleared. Those seconds are taken from the cross street.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Our model reproduces the textbook figure for cars exactly, so it departs from convention only where lane discipline does.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We found the flaw in our own fix</a:t>
            </a:r>
            <a:endParaRPr lang="en-US" sz="3600" dirty="0"/>
          </a:p>
        </p:txBody>
      </p:sp>
      <p:sp>
        <p:nvSpPr>
          <p:cNvPr id="3" name="problem card"/>
          <p:cNvSpPr/>
          <p:nvPr/>
        </p:nvSpPr>
        <p:spPr>
          <a:xfrm>
            <a:off x="640080" y="1508760"/>
            <a:ext cx="5212080" cy="3931920"/>
          </a:xfrm>
          <a:prstGeom prst="roundRect">
            <a:avLst>
              <a:gd name="adj" fmla="val 1860"/>
            </a:avLst>
          </a:prstGeom>
          <a:solidFill>
            <a:srgbClr val="2A1518"/>
          </a:solidFill>
          <a:ln w="12700">
            <a:solidFill>
              <a:srgbClr val="2A151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73736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5A5A"/>
                </a:solidFill>
              </a:rPr>
              <a:t>Correcting the measure was not enough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2514600"/>
            <a:ext cx="4572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Optimising green-seconds-per-vehicle treats a scooter road as cheap, so it scored badly on the very thing being maximised.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It starved that road: 184 ticks of waiting — minutes — falling on the riders least able to absorb it.</a:t>
            </a:r>
            <a:endParaRPr lang="en-US" sz="1400" dirty="0"/>
          </a:p>
        </p:txBody>
      </p:sp>
      <p:sp>
        <p:nvSpPr>
          <p:cNvPr id="6" name="fix card"/>
          <p:cNvSpPr/>
          <p:nvPr/>
        </p:nvSpPr>
        <p:spPr>
          <a:xfrm>
            <a:off x="6309360" y="1508760"/>
            <a:ext cx="5212080" cy="3931920"/>
          </a:xfrm>
          <a:prstGeom prst="roundRect">
            <a:avLst>
              <a:gd name="adj" fmla="val 1860"/>
            </a:avLst>
          </a:prstGeom>
          <a:solidFill>
            <a:srgbClr val="13301F"/>
          </a:solidFill>
          <a:ln w="12700">
            <a:solidFill>
              <a:srgbClr val="13301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29400" y="173736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E87C"/>
                </a:solidFill>
              </a:rPr>
              <a:t>So we changed what we optimise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629400" y="2514600"/>
            <a:ext cx="4572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Road efficiency is a constraint, not the goal. The controller now scores each road by people moved per second of green, with a fairness term on accumulated red time.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Worst-case waiting fell from 184 ticks to 37 — a five-fold cut.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Scooter feeder meets bus arterial</a:t>
            </a:r>
            <a:endParaRPr lang="en-US" sz="3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40080" y="1463040"/>
          <a:ext cx="557784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6492240" y="1463040"/>
          <a:ext cx="502920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40080" y="53492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+1,911 ± 848 more people moved than what is deployed today — and no road left starving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Every number re-runs on demand</a:t>
            </a:r>
            <a:endParaRPr lang="en-US" sz="3600" dirty="0"/>
          </a:p>
        </p:txBody>
      </p:sp>
      <p:sp>
        <p:nvSpPr>
          <p:cNvPr id="3" name="command card"/>
          <p:cNvSpPr/>
          <p:nvPr/>
        </p:nvSpPr>
        <p:spPr>
          <a:xfrm>
            <a:off x="640080" y="146304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0E1620"/>
          </a:solidFill>
          <a:ln w="12700">
            <a:solidFill>
              <a:srgbClr val="0E162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05840" y="166420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CE8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scripts/reproduce_results.py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2139696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7B8"/>
                </a:solidFill>
              </a:rPr>
              <a:t>Re-measures every documented claim and exits non-zero if one has stopped being true.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97180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CE87C"/>
                </a:solidFill>
              </a:rPr>
              <a:t>10/10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7033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claims reproduced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297180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122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4297680" y="37033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automated tests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297180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15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37033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controllers benchmarked</a:t>
            </a:r>
            <a:endParaRPr lang="en-US" sz="1300" dirty="0"/>
          </a:p>
        </p:txBody>
      </p:sp>
      <p:sp>
        <p:nvSpPr>
          <p:cNvPr id="12" name="limits card"/>
          <p:cNvSpPr/>
          <p:nvPr/>
        </p:nvSpPr>
        <p:spPr>
          <a:xfrm>
            <a:off x="640080" y="425196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440740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What we are not claiming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4773168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Discharge parameters are estimates, not measurements from a real junction. It moves more people but fewer vehicles, which is a policy choice. And where every road carries the same traffic it is measurably behind the conventional controller.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7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828800"/>
            <a:ext cx="10881360" cy="12801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4600" b="1" dirty="0">
                <a:solidFill>
                  <a:schemeClr val="bg1"/>
                </a:solidFill>
              </a:rPr>
              <a:t>Measure the right thing</a:t>
            </a: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20040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rgbClr val="94A7B8"/>
                </a:solidFill>
              </a:rPr>
              <a:t>Control theory imported from the West assumes lane discipline. We modelled lane-less traffic from physics, showed the standard method mis-allocates green by 21%, and fixed the equity problem that correction created.</a:t>
            </a:r>
            <a:endParaRPr lang="en-US" sz="1800" dirty="0"/>
          </a:p>
        </p:txBody>
      </p:sp>
      <p:sp>
        <p:nvSpPr>
          <p:cNvPr id="4" name="team card"/>
          <p:cNvSpPr/>
          <p:nvPr/>
        </p:nvSpPr>
        <p:spPr>
          <a:xfrm>
            <a:off x="640080" y="4480560"/>
            <a:ext cx="6035040" cy="1005840"/>
          </a:xfrm>
          <a:prstGeom prst="roundRect">
            <a:avLst>
              <a:gd name="adj" fmla="val 7273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4736592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347"/>
                </a:solidFill>
              </a:rPr>
              <a:t>Rishab CV · 24BCE5296       Martin Wills · 24BCE5255</a:t>
            </a:r>
            <a:endParaRPr lang="en-US" sz="1400" dirty="0"/>
          </a:p>
        </p:txBody>
      </p:sp>
      <p:sp>
        <p:nvSpPr>
          <p:cNvPr id="6" name="signal housing"/>
          <p:cNvSpPr/>
          <p:nvPr/>
        </p:nvSpPr>
        <p:spPr>
          <a:xfrm>
            <a:off x="10149840" y="1828800"/>
            <a:ext cx="702259" cy="1682496"/>
          </a:xfrm>
          <a:prstGeom prst="roundRect">
            <a:avLst>
              <a:gd name="adj" fmla="val 7813"/>
            </a:avLst>
          </a:prstGeom>
          <a:solidFill>
            <a:srgbClr val="09111A"/>
          </a:solidFill>
          <a:ln w="12700">
            <a:solidFill>
              <a:srgbClr val="24323F"/>
            </a:solidFill>
            <a:prstDash val="solid"/>
          </a:ln>
        </p:spPr>
      </p:sp>
      <p:sp>
        <p:nvSpPr>
          <p:cNvPr id="7" name="lamp 0"/>
          <p:cNvSpPr/>
          <p:nvPr/>
        </p:nvSpPr>
        <p:spPr>
          <a:xfrm>
            <a:off x="10310774" y="1945843"/>
            <a:ext cx="380390" cy="380390"/>
          </a:xfrm>
          <a:prstGeom prst="ellipse">
            <a:avLst/>
          </a:prstGeom>
          <a:solidFill>
            <a:srgbClr val="1B2730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8" name="lamp 1"/>
          <p:cNvSpPr/>
          <p:nvPr/>
        </p:nvSpPr>
        <p:spPr>
          <a:xfrm>
            <a:off x="10310774" y="2428646"/>
            <a:ext cx="380390" cy="380390"/>
          </a:xfrm>
          <a:prstGeom prst="ellipse">
            <a:avLst/>
          </a:prstGeom>
          <a:solidFill>
            <a:srgbClr val="1B2730"/>
          </a:solidFill>
          <a:ln w="12700">
            <a:solidFill>
              <a:srgbClr val="22303C"/>
            </a:solidFill>
            <a:prstDash val="solid"/>
          </a:ln>
        </p:spPr>
      </p:sp>
      <p:sp>
        <p:nvSpPr>
          <p:cNvPr id="9" name="lamp 2"/>
          <p:cNvSpPr/>
          <p:nvPr/>
        </p:nvSpPr>
        <p:spPr>
          <a:xfrm>
            <a:off x="10310774" y="2911450"/>
            <a:ext cx="380390" cy="380390"/>
          </a:xfrm>
          <a:prstGeom prst="ellipse">
            <a:avLst/>
          </a:prstGeom>
          <a:solidFill>
            <a:srgbClr val="3CE87C"/>
          </a:solidFill>
          <a:ln w="12700">
            <a:solidFill>
              <a:srgbClr val="3CE87C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SmartTraffic Signal">
  <a:themeElements>
    <a:clrScheme name="SmartTraffic Signal">
      <a:dk1>
        <a:srgbClr val="0E1620"/>
      </a:dk1>
      <a:lt1>
        <a:srgbClr val="FFFFFF"/>
      </a:lt1>
      <a:dk2>
        <a:srgbClr val="1B2A3A"/>
      </a:dk2>
      <a:lt2>
        <a:srgbClr val="EEF3F7"/>
      </a:lt2>
      <a:accent1>
        <a:srgbClr val="FFB347"/>
      </a:accent1>
      <a:accent2>
        <a:srgbClr val="3CE87C"/>
      </a:accent2>
      <a:accent3>
        <a:srgbClr val="FF5A5A"/>
      </a:accent3>
      <a:accent4>
        <a:srgbClr val="8FD8FF"/>
      </a:accent4>
      <a:accent5>
        <a:srgbClr val="94A7B8"/>
      </a:accent5>
      <a:accent6>
        <a:srgbClr val="C9A227"/>
      </a:accent6>
      <a:hlink>
        <a:srgbClr val="8FD8FF"/>
      </a:hlink>
      <a:folHlink>
        <a:srgbClr val="94A7B8"/>
      </a:folHlink>
    </a:clrScheme>
    <a:fontScheme name="SmartTraffic Signal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SmartTraffic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SmartTraffic — adaptive signal control for lane-less traffic</dc:title>
  <dc:subject>PptxGenJS Presentation</dc:subject>
  <dc:creator>Rishab CV, Martin Wills</dc:creator>
  <cp:lastModifiedBy>Rishab CV, Martin Wills</cp:lastModifiedBy>
  <cp:revision>1</cp:revision>
  <dcterms:created xsi:type="dcterms:W3CDTF">2026-10-06T17:39:57Z</dcterms:created>
  <dcterms:modified xsi:type="dcterms:W3CDTF">2026-10-06T17:39:57Z</dcterms:modified>
</cp:coreProperties>
</file>