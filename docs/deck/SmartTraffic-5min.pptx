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b09bff88-0893-e6d2-1f78-94a9157ea9a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Car-equivalents per vehicle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PCU (used today)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0.8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Implied by real discharge</c:v>
                </c:pt>
              </c:strCache>
            </c:strRef>
          </c:tx>
          <c:spPr>
            <a:solidFill>
              <a:srgbClr val="FFB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</c:v>
                </c:pt>
                <c:pt idx="1">
                  <c:v>0.66</c:v>
                </c:pt>
                <c:pt idx="2">
                  <c:v>1</c:v>
                </c:pt>
                <c:pt idx="3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2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People moved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moved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E8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34772</c:v>
                </c:pt>
                <c:pt idx="1">
                  <c:v>41099</c:v>
                </c:pt>
                <c:pt idx="2">
                  <c:v>36683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000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Worst approach wait (ticks)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approach wait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E8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31.5</c:v>
                </c:pt>
                <c:pt idx="1">
                  <c:v>184.5</c:v>
                </c:pt>
                <c:pt idx="2">
                  <c:v>37.1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[0:00-0:25] We built an adaptive traffic signal controller. The part that is new is that it is designed for traffic without lane discipline. Everything I show you re-runs from the repository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[0:25-1:10] Every adaptive system in the world is built on the left-hand column. Indian traffic is the right-hand column. That gap is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[1:10-2:00] We derived discharge from physical width and headway instead. The car column being identical matters — where the old assumption holds, we agree with it exactly. We are not just picking numbers that suit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[2:00-2:55] This is the slide to dwell on. We found the equity problem in our own result and fixed it, rather than reporting the bigger number and hoping nobody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[2:55-3:50] Ten seeds, paired confidence intervals. The red bar is our own first attempt — we show it because it is the reason the final controller is shaped this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[3:50-4:40] Say the limitations out loud. Volunteering them before being asked is what makes the rest of the numbers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[4:40-5:00] Close on the one-sentence version, then offer the live demo: the Mixed fleet tab runs the whole study on screen, and the control condition is a checkbox.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7B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7B8"/>
                </a:solidFill>
              </a:rPr>
              <a:t>SmartTraffic · Design of Smart Cities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7B8"/>
                </a:solidFill>
              </a:rPr>
              <a:t>SmartTraffic · Design of Smart Cities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SmartTraffic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7B8"/>
                </a:solidFill>
              </a:rPr>
              <a:t>Adaptive signal control built for lane-less Indian traffic   ·   Design of Smart Cities</a:t>
            </a:r>
            <a:endParaRPr lang="en-US" sz="1800" dirty="0"/>
          </a:p>
        </p:txBody>
      </p:sp>
      <p:sp>
        <p:nvSpPr>
          <p:cNvPr id="4" name="team card"/>
          <p:cNvSpPr/>
          <p:nvPr/>
        </p:nvSpPr>
        <p:spPr>
          <a:xfrm>
            <a:off x="640080" y="42062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370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Rishab CV</a:t>
            </a:r>
            <a:pPr indent="0" marL="0">
              <a:buNone/>
            </a:pPr>
            <a:r>
              <a:rPr lang="en-US" sz="1600" dirty="0">
                <a:solidFill>
                  <a:srgbClr val="FFB347"/>
                </a:solidFill>
              </a:rPr>
              <a:t>   24BCE5296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800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Martin Wills</a:t>
            </a:r>
            <a:pPr indent="0" marL="0">
              <a:buNone/>
            </a:pPr>
            <a:r>
              <a:rPr lang="en-US" sz="1600" dirty="0">
                <a:solidFill>
                  <a:srgbClr val="FFB347"/>
                </a:solidFill>
              </a:rPr>
              <a:t>   24BCE5255</a:t>
            </a:r>
            <a:endParaRPr lang="en-US" sz="1600" dirty="0"/>
          </a:p>
        </p:txBody>
      </p:sp>
      <p:sp>
        <p:nvSpPr>
          <p:cNvPr id="7" name="signal housing"/>
          <p:cNvSpPr/>
          <p:nvPr/>
        </p:nvSpPr>
        <p:spPr>
          <a:xfrm>
            <a:off x="10149840" y="1828800"/>
            <a:ext cx="702259" cy="1682496"/>
          </a:xfrm>
          <a:prstGeom prst="roundRect">
            <a:avLst>
              <a:gd name="adj" fmla="val 7813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8" name="lamp 0"/>
          <p:cNvSpPr/>
          <p:nvPr/>
        </p:nvSpPr>
        <p:spPr>
          <a:xfrm>
            <a:off x="10310774" y="1945843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9" name="lamp 1"/>
          <p:cNvSpPr/>
          <p:nvPr/>
        </p:nvSpPr>
        <p:spPr>
          <a:xfrm>
            <a:off x="10310774" y="2428646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lamp 2"/>
          <p:cNvSpPr/>
          <p:nvPr/>
        </p:nvSpPr>
        <p:spPr>
          <a:xfrm>
            <a:off x="10310774" y="2911450"/>
            <a:ext cx="380390" cy="380390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Signal theory assumes lane discipline</a:t>
            </a:r>
            <a:endParaRPr lang="en-US" sz="3600" dirty="0"/>
          </a:p>
        </p:txBody>
      </p:sp>
      <p:sp>
        <p:nvSpPr>
          <p:cNvPr id="3" name="assumption card"/>
          <p:cNvSpPr/>
          <p:nvPr/>
        </p:nvSpPr>
        <p:spPr>
          <a:xfrm>
            <a:off x="640080" y="15544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4A7B8"/>
                </a:solidFill>
              </a:rPr>
              <a:t>What the textbooks assume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860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Vehicles queue single file. One crosses per lane per headway. A fixed factor converts a bus or a scooter into "car equivalents".</a:t>
            </a:r>
            <a:endParaRPr lang="en-US" sz="1500" dirty="0"/>
          </a:p>
        </p:txBody>
      </p:sp>
      <p:sp>
        <p:nvSpPr>
          <p:cNvPr id="6" name="reality card"/>
          <p:cNvSpPr/>
          <p:nvPr/>
        </p:nvSpPr>
        <p:spPr>
          <a:xfrm>
            <a:off x="6263640" y="15544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2A2015"/>
          </a:solidFill>
          <a:ln w="12700">
            <a:solidFill>
              <a:srgbClr val="2A20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47"/>
                </a:solidFill>
              </a:rPr>
              <a:t>What an Indian junction does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Two-wheelers filter into lateral gaps and cross two or three abreast where one car fits. What limits the stop line is lateral space — not a factor calibrated for moving traffic.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7B8"/>
                </a:solidFill>
              </a:rPr>
              <a:t>Chennai: 132 hours lost per driver per year, 16 km/h at peak  ·  TomTom 2025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conventional factor is 56% too high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card"/>
          <p:cNvSpPr/>
          <p:nvPr/>
        </p:nvSpPr>
        <p:spPr>
          <a:xfrm>
            <a:off x="7589520" y="146304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5A5A"/>
                </a:solidFill>
              </a:rPr>
              <a:t>21.5%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green wasted at Indian traffic mixes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2004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Held green after the queue has already cleared. Those seconds are taken from the cross street.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Our model reproduces the textbook figure for cars exactly, so it departs from convention only where lane discipline does.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 found the flaw in our own fix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5087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A1518"/>
          </a:solidFill>
          <a:ln w="12700">
            <a:solidFill>
              <a:srgbClr val="2A1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A5A"/>
                </a:solidFill>
              </a:rPr>
              <a:t>Correcting the measure was not enough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514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Optimising green-seconds-per-vehicle treats a scooter road as cheap, so it scored badly on the very thing being maximised.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It starved that road: 184 ticks of waiting — minutes — falling on the riders least able to absorb it.</a:t>
            </a:r>
            <a:endParaRPr lang="en-US" sz="1400" dirty="0"/>
          </a:p>
        </p:txBody>
      </p:sp>
      <p:sp>
        <p:nvSpPr>
          <p:cNvPr id="6" name="fix card"/>
          <p:cNvSpPr/>
          <p:nvPr/>
        </p:nvSpPr>
        <p:spPr>
          <a:xfrm>
            <a:off x="6309360" y="15087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3301F"/>
          </a:solidFill>
          <a:ln w="12700">
            <a:solidFill>
              <a:srgbClr val="13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E87C"/>
                </a:solidFill>
              </a:rPr>
              <a:t>So we changed what we optimise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514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Road efficiency is a constraint, not the goal. The controller now scores each road by people moved per second of green, with a fairness term on accumulated red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Worst-case waiting fell from 184 ticks to 37 — a five-fold cut.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Scooter feeder meets bus arterial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46304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+1,911 ± 848 more people moved than what is deployed today — and no road left starving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number re-runs on demand</a:t>
            </a:r>
            <a:endParaRPr lang="en-US" sz="3600" dirty="0"/>
          </a:p>
        </p:txBody>
      </p:sp>
      <p:sp>
        <p:nvSpPr>
          <p:cNvPr id="3" name="command card"/>
          <p:cNvSpPr/>
          <p:nvPr/>
        </p:nvSpPr>
        <p:spPr>
          <a:xfrm>
            <a:off x="640080" y="1463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E1620"/>
          </a:solidFill>
          <a:ln w="12700">
            <a:solidFill>
              <a:srgbClr val="0E16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E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scripts/reproduce_results.py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3969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7B8"/>
                </a:solidFill>
              </a:rPr>
              <a:t>Re-measures every documented claim and exits non-zero if one has stopped being true.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E87C"/>
                </a:solidFill>
              </a:rPr>
              <a:t>10/10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claims reproduced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122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controllers benchmarked</a:t>
            </a:r>
            <a:endParaRPr lang="en-US" sz="1300" dirty="0"/>
          </a:p>
        </p:txBody>
      </p:sp>
      <p:sp>
        <p:nvSpPr>
          <p:cNvPr id="12" name="limits card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4074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we are not claiming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731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Discharge parameters are estimates, not measurements from a real junction. It moves more people but fewer vehicles, which is a policy choice. And where every road carries the same traffic it is measurably behind the conventional controller.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Measure the right thing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7B8"/>
                </a:solidFill>
              </a:rPr>
              <a:t>Control theory imported from the West assumes lane discipline. We modelled lane-less traffic from physics, showed the standard method mis-allocates green by 21%, and fixed the equity problem that correction created.</a:t>
            </a:r>
            <a:endParaRPr lang="en-US" sz="1800" dirty="0"/>
          </a:p>
        </p:txBody>
      </p:sp>
      <p:sp>
        <p:nvSpPr>
          <p:cNvPr id="4" name="team card"/>
          <p:cNvSpPr/>
          <p:nvPr/>
        </p:nvSpPr>
        <p:spPr>
          <a:xfrm>
            <a:off x="640080" y="448056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47"/>
                </a:solidFill>
              </a:rPr>
              <a:t>Rishab CV · 24BCE5296       Martin Wills · 24BCE5255</a:t>
            </a:r>
            <a:endParaRPr lang="en-US" sz="1400" dirty="0"/>
          </a:p>
        </p:txBody>
      </p:sp>
      <p:sp>
        <p:nvSpPr>
          <p:cNvPr id="6" name="signal housing"/>
          <p:cNvSpPr/>
          <p:nvPr/>
        </p:nvSpPr>
        <p:spPr>
          <a:xfrm>
            <a:off x="10149840" y="1828800"/>
            <a:ext cx="702259" cy="1682496"/>
          </a:xfrm>
          <a:prstGeom prst="roundRect">
            <a:avLst>
              <a:gd name="adj" fmla="val 7813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lamp 0"/>
          <p:cNvSpPr/>
          <p:nvPr/>
        </p:nvSpPr>
        <p:spPr>
          <a:xfrm>
            <a:off x="10310774" y="1945843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8" name="lamp 1"/>
          <p:cNvSpPr/>
          <p:nvPr/>
        </p:nvSpPr>
        <p:spPr>
          <a:xfrm>
            <a:off x="10310774" y="2428646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9" name="lamp 2"/>
          <p:cNvSpPr/>
          <p:nvPr/>
        </p:nvSpPr>
        <p:spPr>
          <a:xfrm>
            <a:off x="10310774" y="2911450"/>
            <a:ext cx="380390" cy="380390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SmartTraffic Signal">
  <a:themeElements>
    <a:clrScheme name="SmartTraffic Signal">
      <a:dk1>
        <a:srgbClr val="0E1620"/>
      </a:dk1>
      <a:lt1>
        <a:srgbClr val="FFFFFF"/>
      </a:lt1>
      <a:dk2>
        <a:srgbClr val="1B2A3A"/>
      </a:dk2>
      <a:lt2>
        <a:srgbClr val="EEF3F7"/>
      </a:lt2>
      <a:accent1>
        <a:srgbClr val="FFB347"/>
      </a:accent1>
      <a:accent2>
        <a:srgbClr val="3CE87C"/>
      </a:accent2>
      <a:accent3>
        <a:srgbClr val="FF5A5A"/>
      </a:accent3>
      <a:accent4>
        <a:srgbClr val="8FD8FF"/>
      </a:accent4>
      <a:accent5>
        <a:srgbClr val="94A7B8"/>
      </a:accent5>
      <a:accent6>
        <a:srgbClr val="C9A227"/>
      </a:accent6>
      <a:hlink>
        <a:srgbClr val="8FD8FF"/>
      </a:hlink>
      <a:folHlink>
        <a:srgbClr val="94A7B8"/>
      </a:folHlink>
    </a:clrScheme>
    <a:fontScheme name="SmartTraffic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SmartTraffic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SmartTraffic — adaptive signal control for lane-less traffic</dc:title>
  <dc:subject>PptxGenJS Presentation</dc:subject>
  <dc:creator>Rishab CV, Martin Wills</dc:creator>
  <cp:lastModifiedBy>Rishab CV, Martin Wills</cp:lastModifiedBy>
  <cp:revision>1</cp:revision>
  <dcterms:created xsi:type="dcterms:W3CDTF">2026-10-06T18:01:59Z</dcterms:created>
  <dcterms:modified xsi:type="dcterms:W3CDTF">2026-10-06T18:01:59Z</dcterms:modified>
</cp:coreProperties>
</file>